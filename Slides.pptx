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08758" y="2298751"/>
            <a:ext cx="1434465" cy="1744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536394" y="0"/>
            <a:ext cx="2752090" cy="2213610"/>
          </a:xfrm>
          <a:custGeom>
            <a:avLst/>
            <a:gdLst/>
            <a:ahLst/>
            <a:cxnLst/>
            <a:rect l="l" t="t" r="r" b="b"/>
            <a:pathLst>
              <a:path w="2752090" h="2213610">
                <a:moveTo>
                  <a:pt x="0" y="0"/>
                </a:moveTo>
                <a:lnTo>
                  <a:pt x="41652" y="26298"/>
                </a:lnTo>
                <a:lnTo>
                  <a:pt x="80336" y="51922"/>
                </a:lnTo>
                <a:lnTo>
                  <a:pt x="118421" y="78265"/>
                </a:lnTo>
                <a:lnTo>
                  <a:pt x="155929" y="105301"/>
                </a:lnTo>
                <a:lnTo>
                  <a:pt x="192882" y="133005"/>
                </a:lnTo>
                <a:lnTo>
                  <a:pt x="229300" y="161350"/>
                </a:lnTo>
                <a:lnTo>
                  <a:pt x="265206" y="190311"/>
                </a:lnTo>
                <a:lnTo>
                  <a:pt x="300621" y="219862"/>
                </a:lnTo>
                <a:lnTo>
                  <a:pt x="335565" y="249978"/>
                </a:lnTo>
                <a:lnTo>
                  <a:pt x="370061" y="280633"/>
                </a:lnTo>
                <a:lnTo>
                  <a:pt x="404130" y="311801"/>
                </a:lnTo>
                <a:lnTo>
                  <a:pt x="437792" y="343457"/>
                </a:lnTo>
                <a:lnTo>
                  <a:pt x="471070" y="375575"/>
                </a:lnTo>
                <a:lnTo>
                  <a:pt x="503985" y="408130"/>
                </a:lnTo>
                <a:lnTo>
                  <a:pt x="536559" y="441095"/>
                </a:lnTo>
                <a:lnTo>
                  <a:pt x="568811" y="474445"/>
                </a:lnTo>
                <a:lnTo>
                  <a:pt x="600765" y="508154"/>
                </a:lnTo>
                <a:lnTo>
                  <a:pt x="632441" y="542197"/>
                </a:lnTo>
                <a:lnTo>
                  <a:pt x="663860" y="576549"/>
                </a:lnTo>
                <a:lnTo>
                  <a:pt x="695044" y="611182"/>
                </a:lnTo>
                <a:lnTo>
                  <a:pt x="726015" y="646072"/>
                </a:lnTo>
                <a:lnTo>
                  <a:pt x="756794" y="681193"/>
                </a:lnTo>
                <a:lnTo>
                  <a:pt x="787401" y="716520"/>
                </a:lnTo>
                <a:lnTo>
                  <a:pt x="817859" y="752026"/>
                </a:lnTo>
                <a:lnTo>
                  <a:pt x="848189" y="787686"/>
                </a:lnTo>
                <a:lnTo>
                  <a:pt x="878412" y="823474"/>
                </a:lnTo>
                <a:lnTo>
                  <a:pt x="908550" y="859365"/>
                </a:lnTo>
                <a:lnTo>
                  <a:pt x="938623" y="895334"/>
                </a:lnTo>
                <a:lnTo>
                  <a:pt x="968654" y="931353"/>
                </a:lnTo>
                <a:lnTo>
                  <a:pt x="998664" y="967398"/>
                </a:lnTo>
                <a:lnTo>
                  <a:pt x="1028673" y="1003443"/>
                </a:lnTo>
                <a:lnTo>
                  <a:pt x="1058704" y="1039463"/>
                </a:lnTo>
                <a:lnTo>
                  <a:pt x="1088777" y="1075431"/>
                </a:lnTo>
                <a:lnTo>
                  <a:pt x="1118915" y="1111322"/>
                </a:lnTo>
                <a:lnTo>
                  <a:pt x="1149138" y="1147110"/>
                </a:lnTo>
                <a:lnTo>
                  <a:pt x="1179468" y="1182770"/>
                </a:lnTo>
                <a:lnTo>
                  <a:pt x="1209926" y="1218277"/>
                </a:lnTo>
                <a:lnTo>
                  <a:pt x="1240533" y="1253603"/>
                </a:lnTo>
                <a:lnTo>
                  <a:pt x="1271311" y="1288724"/>
                </a:lnTo>
                <a:lnTo>
                  <a:pt x="1302282" y="1323614"/>
                </a:lnTo>
                <a:lnTo>
                  <a:pt x="1333466" y="1358248"/>
                </a:lnTo>
                <a:lnTo>
                  <a:pt x="1364885" y="1392599"/>
                </a:lnTo>
                <a:lnTo>
                  <a:pt x="1396561" y="1426642"/>
                </a:lnTo>
                <a:lnTo>
                  <a:pt x="1428514" y="1460351"/>
                </a:lnTo>
                <a:lnTo>
                  <a:pt x="1460766" y="1493701"/>
                </a:lnTo>
                <a:lnTo>
                  <a:pt x="1493338" y="1526666"/>
                </a:lnTo>
                <a:lnTo>
                  <a:pt x="1526252" y="1559221"/>
                </a:lnTo>
                <a:lnTo>
                  <a:pt x="1559530" y="1591339"/>
                </a:lnTo>
                <a:lnTo>
                  <a:pt x="1593192" y="1622995"/>
                </a:lnTo>
                <a:lnTo>
                  <a:pt x="1627259" y="1654163"/>
                </a:lnTo>
                <a:lnTo>
                  <a:pt x="1661754" y="1684818"/>
                </a:lnTo>
                <a:lnTo>
                  <a:pt x="1696697" y="1714934"/>
                </a:lnTo>
                <a:lnTo>
                  <a:pt x="1732111" y="1744486"/>
                </a:lnTo>
                <a:lnTo>
                  <a:pt x="1768015" y="1773447"/>
                </a:lnTo>
                <a:lnTo>
                  <a:pt x="1804432" y="1801792"/>
                </a:lnTo>
                <a:lnTo>
                  <a:pt x="1841383" y="1829495"/>
                </a:lnTo>
                <a:lnTo>
                  <a:pt x="1878890" y="1856531"/>
                </a:lnTo>
                <a:lnTo>
                  <a:pt x="1916973" y="1882874"/>
                </a:lnTo>
                <a:lnTo>
                  <a:pt x="1955654" y="1908498"/>
                </a:lnTo>
                <a:lnTo>
                  <a:pt x="1994954" y="1933378"/>
                </a:lnTo>
                <a:lnTo>
                  <a:pt x="2034896" y="1957488"/>
                </a:lnTo>
                <a:lnTo>
                  <a:pt x="2075499" y="1980802"/>
                </a:lnTo>
                <a:lnTo>
                  <a:pt x="2116786" y="2003295"/>
                </a:lnTo>
                <a:lnTo>
                  <a:pt x="2158778" y="2024941"/>
                </a:lnTo>
                <a:lnTo>
                  <a:pt x="2201496" y="2045714"/>
                </a:lnTo>
                <a:lnTo>
                  <a:pt x="2244961" y="2065589"/>
                </a:lnTo>
                <a:lnTo>
                  <a:pt x="2289196" y="2084540"/>
                </a:lnTo>
                <a:lnTo>
                  <a:pt x="2334221" y="2102541"/>
                </a:lnTo>
                <a:lnTo>
                  <a:pt x="2380057" y="2119567"/>
                </a:lnTo>
                <a:lnTo>
                  <a:pt x="2426726" y="2135592"/>
                </a:lnTo>
                <a:lnTo>
                  <a:pt x="2474250" y="2150590"/>
                </a:lnTo>
                <a:lnTo>
                  <a:pt x="2522650" y="2164536"/>
                </a:lnTo>
                <a:lnTo>
                  <a:pt x="2571946" y="2177403"/>
                </a:lnTo>
                <a:lnTo>
                  <a:pt x="2622161" y="2189168"/>
                </a:lnTo>
                <a:lnTo>
                  <a:pt x="2673316" y="2199802"/>
                </a:lnTo>
                <a:lnTo>
                  <a:pt x="2725432" y="2209282"/>
                </a:lnTo>
                <a:lnTo>
                  <a:pt x="2751607" y="2213373"/>
                </a:lnTo>
              </a:path>
            </a:pathLst>
          </a:custGeom>
          <a:ln w="24999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425681" y="8025555"/>
            <a:ext cx="1862455" cy="2261870"/>
          </a:xfrm>
          <a:custGeom>
            <a:avLst/>
            <a:gdLst/>
            <a:ahLst/>
            <a:cxnLst/>
            <a:rect l="l" t="t" r="r" b="b"/>
            <a:pathLst>
              <a:path w="1862455" h="2261870">
                <a:moveTo>
                  <a:pt x="1862332" y="0"/>
                </a:moveTo>
                <a:lnTo>
                  <a:pt x="1821264" y="16807"/>
                </a:lnTo>
                <a:lnTo>
                  <a:pt x="1781165" y="35336"/>
                </a:lnTo>
                <a:lnTo>
                  <a:pt x="1741995" y="55533"/>
                </a:lnTo>
                <a:lnTo>
                  <a:pt x="1703726" y="77345"/>
                </a:lnTo>
                <a:lnTo>
                  <a:pt x="1666326" y="100717"/>
                </a:lnTo>
                <a:lnTo>
                  <a:pt x="1629767" y="125597"/>
                </a:lnTo>
                <a:lnTo>
                  <a:pt x="1594017" y="151928"/>
                </a:lnTo>
                <a:lnTo>
                  <a:pt x="1559048" y="179659"/>
                </a:lnTo>
                <a:lnTo>
                  <a:pt x="1524828" y="208736"/>
                </a:lnTo>
                <a:lnTo>
                  <a:pt x="1491329" y="239103"/>
                </a:lnTo>
                <a:lnTo>
                  <a:pt x="1458519" y="270709"/>
                </a:lnTo>
                <a:lnTo>
                  <a:pt x="1426370" y="303498"/>
                </a:lnTo>
                <a:lnTo>
                  <a:pt x="1394850" y="337417"/>
                </a:lnTo>
                <a:lnTo>
                  <a:pt x="1363930" y="372413"/>
                </a:lnTo>
                <a:lnTo>
                  <a:pt x="1333580" y="408431"/>
                </a:lnTo>
                <a:lnTo>
                  <a:pt x="1303770" y="445417"/>
                </a:lnTo>
                <a:lnTo>
                  <a:pt x="1274470" y="483318"/>
                </a:lnTo>
                <a:lnTo>
                  <a:pt x="1245649" y="522081"/>
                </a:lnTo>
                <a:lnTo>
                  <a:pt x="1217279" y="561650"/>
                </a:lnTo>
                <a:lnTo>
                  <a:pt x="1189328" y="601973"/>
                </a:lnTo>
                <a:lnTo>
                  <a:pt x="1161767" y="642995"/>
                </a:lnTo>
                <a:lnTo>
                  <a:pt x="1134566" y="684663"/>
                </a:lnTo>
                <a:lnTo>
                  <a:pt x="1107694" y="726922"/>
                </a:lnTo>
                <a:lnTo>
                  <a:pt x="1081122" y="769720"/>
                </a:lnTo>
                <a:lnTo>
                  <a:pt x="1054820" y="813002"/>
                </a:lnTo>
                <a:lnTo>
                  <a:pt x="1028758" y="856715"/>
                </a:lnTo>
                <a:lnTo>
                  <a:pt x="1002905" y="900804"/>
                </a:lnTo>
                <a:lnTo>
                  <a:pt x="977232" y="945216"/>
                </a:lnTo>
                <a:lnTo>
                  <a:pt x="951708" y="989897"/>
                </a:lnTo>
                <a:lnTo>
                  <a:pt x="926304" y="1034793"/>
                </a:lnTo>
                <a:lnTo>
                  <a:pt x="900990" y="1079851"/>
                </a:lnTo>
                <a:lnTo>
                  <a:pt x="875736" y="1125016"/>
                </a:lnTo>
                <a:lnTo>
                  <a:pt x="850510" y="1170235"/>
                </a:lnTo>
                <a:lnTo>
                  <a:pt x="825294" y="1215454"/>
                </a:lnTo>
                <a:lnTo>
                  <a:pt x="800047" y="1260620"/>
                </a:lnTo>
                <a:lnTo>
                  <a:pt x="774740" y="1305678"/>
                </a:lnTo>
                <a:lnTo>
                  <a:pt x="749343" y="1350575"/>
                </a:lnTo>
                <a:lnTo>
                  <a:pt x="723825" y="1395256"/>
                </a:lnTo>
                <a:lnTo>
                  <a:pt x="698157" y="1439668"/>
                </a:lnTo>
                <a:lnTo>
                  <a:pt x="672308" y="1483758"/>
                </a:lnTo>
                <a:lnTo>
                  <a:pt x="646249" y="1527470"/>
                </a:lnTo>
                <a:lnTo>
                  <a:pt x="619950" y="1570752"/>
                </a:lnTo>
                <a:lnTo>
                  <a:pt x="593380" y="1613550"/>
                </a:lnTo>
                <a:lnTo>
                  <a:pt x="566510" y="1655810"/>
                </a:lnTo>
                <a:lnTo>
                  <a:pt x="539310" y="1697478"/>
                </a:lnTo>
                <a:lnTo>
                  <a:pt x="511749" y="1738500"/>
                </a:lnTo>
                <a:lnTo>
                  <a:pt x="483799" y="1778822"/>
                </a:lnTo>
                <a:lnTo>
                  <a:pt x="455428" y="1818391"/>
                </a:lnTo>
                <a:lnTo>
                  <a:pt x="426606" y="1857153"/>
                </a:lnTo>
                <a:lnTo>
                  <a:pt x="397305" y="1895054"/>
                </a:lnTo>
                <a:lnTo>
                  <a:pt x="367493" y="1932041"/>
                </a:lnTo>
                <a:lnTo>
                  <a:pt x="337142" y="1968058"/>
                </a:lnTo>
                <a:lnTo>
                  <a:pt x="306220" y="2003053"/>
                </a:lnTo>
                <a:lnTo>
                  <a:pt x="274698" y="2036972"/>
                </a:lnTo>
                <a:lnTo>
                  <a:pt x="242546" y="2069761"/>
                </a:lnTo>
                <a:lnTo>
                  <a:pt x="209733" y="2101366"/>
                </a:lnTo>
                <a:lnTo>
                  <a:pt x="176231" y="2131734"/>
                </a:lnTo>
                <a:lnTo>
                  <a:pt x="142009" y="2160809"/>
                </a:lnTo>
                <a:lnTo>
                  <a:pt x="107036" y="2188540"/>
                </a:lnTo>
                <a:lnTo>
                  <a:pt x="71284" y="2214872"/>
                </a:lnTo>
                <a:lnTo>
                  <a:pt x="34721" y="2239750"/>
                </a:lnTo>
                <a:lnTo>
                  <a:pt x="0" y="2261447"/>
                </a:lnTo>
              </a:path>
            </a:pathLst>
          </a:custGeom>
          <a:ln w="24998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974850" cy="1932305"/>
          </a:xfrm>
          <a:custGeom>
            <a:avLst/>
            <a:gdLst/>
            <a:ahLst/>
            <a:cxnLst/>
            <a:rect l="l" t="t" r="r" b="b"/>
            <a:pathLst>
              <a:path w="1974850" h="1932305">
                <a:moveTo>
                  <a:pt x="1974494" y="0"/>
                </a:moveTo>
                <a:lnTo>
                  <a:pt x="1930282" y="28487"/>
                </a:lnTo>
                <a:lnTo>
                  <a:pt x="1893093" y="54558"/>
                </a:lnTo>
                <a:lnTo>
                  <a:pt x="1856730" y="81867"/>
                </a:lnTo>
                <a:lnTo>
                  <a:pt x="1821156" y="110360"/>
                </a:lnTo>
                <a:lnTo>
                  <a:pt x="1786335" y="139984"/>
                </a:lnTo>
                <a:lnTo>
                  <a:pt x="1752231" y="170684"/>
                </a:lnTo>
                <a:lnTo>
                  <a:pt x="1718810" y="202407"/>
                </a:lnTo>
                <a:lnTo>
                  <a:pt x="1686033" y="235099"/>
                </a:lnTo>
                <a:lnTo>
                  <a:pt x="1653867" y="268706"/>
                </a:lnTo>
                <a:lnTo>
                  <a:pt x="1622275" y="303174"/>
                </a:lnTo>
                <a:lnTo>
                  <a:pt x="1591221" y="338449"/>
                </a:lnTo>
                <a:lnTo>
                  <a:pt x="1560669" y="374478"/>
                </a:lnTo>
                <a:lnTo>
                  <a:pt x="1530583" y="411207"/>
                </a:lnTo>
                <a:lnTo>
                  <a:pt x="1500928" y="448582"/>
                </a:lnTo>
                <a:lnTo>
                  <a:pt x="1471668" y="486549"/>
                </a:lnTo>
                <a:lnTo>
                  <a:pt x="1442766" y="525054"/>
                </a:lnTo>
                <a:lnTo>
                  <a:pt x="1414187" y="564044"/>
                </a:lnTo>
                <a:lnTo>
                  <a:pt x="1385895" y="603464"/>
                </a:lnTo>
                <a:lnTo>
                  <a:pt x="1357855" y="643261"/>
                </a:lnTo>
                <a:lnTo>
                  <a:pt x="1330029" y="683380"/>
                </a:lnTo>
                <a:lnTo>
                  <a:pt x="1302383" y="723769"/>
                </a:lnTo>
                <a:lnTo>
                  <a:pt x="1274881" y="764373"/>
                </a:lnTo>
                <a:lnTo>
                  <a:pt x="1247486" y="805139"/>
                </a:lnTo>
                <a:lnTo>
                  <a:pt x="1220162" y="846012"/>
                </a:lnTo>
                <a:lnTo>
                  <a:pt x="1192875" y="886939"/>
                </a:lnTo>
                <a:lnTo>
                  <a:pt x="1165588" y="927867"/>
                </a:lnTo>
                <a:lnTo>
                  <a:pt x="1138265" y="968741"/>
                </a:lnTo>
                <a:lnTo>
                  <a:pt x="1110870" y="1009508"/>
                </a:lnTo>
                <a:lnTo>
                  <a:pt x="1083367" y="1050113"/>
                </a:lnTo>
                <a:lnTo>
                  <a:pt x="1055721" y="1090502"/>
                </a:lnTo>
                <a:lnTo>
                  <a:pt x="1027896" y="1130622"/>
                </a:lnTo>
                <a:lnTo>
                  <a:pt x="999855" y="1170420"/>
                </a:lnTo>
                <a:lnTo>
                  <a:pt x="971564" y="1209840"/>
                </a:lnTo>
                <a:lnTo>
                  <a:pt x="942985" y="1248830"/>
                </a:lnTo>
                <a:lnTo>
                  <a:pt x="914083" y="1287335"/>
                </a:lnTo>
                <a:lnTo>
                  <a:pt x="884823" y="1325302"/>
                </a:lnTo>
                <a:lnTo>
                  <a:pt x="855168" y="1362677"/>
                </a:lnTo>
                <a:lnTo>
                  <a:pt x="825083" y="1399406"/>
                </a:lnTo>
                <a:lnTo>
                  <a:pt x="794531" y="1435435"/>
                </a:lnTo>
                <a:lnTo>
                  <a:pt x="763477" y="1470711"/>
                </a:lnTo>
                <a:lnTo>
                  <a:pt x="731885" y="1505179"/>
                </a:lnTo>
                <a:lnTo>
                  <a:pt x="699719" y="1538785"/>
                </a:lnTo>
                <a:lnTo>
                  <a:pt x="666943" y="1571477"/>
                </a:lnTo>
                <a:lnTo>
                  <a:pt x="633522" y="1603200"/>
                </a:lnTo>
                <a:lnTo>
                  <a:pt x="599419" y="1633900"/>
                </a:lnTo>
                <a:lnTo>
                  <a:pt x="564598" y="1663523"/>
                </a:lnTo>
                <a:lnTo>
                  <a:pt x="529024" y="1692016"/>
                </a:lnTo>
                <a:lnTo>
                  <a:pt x="492661" y="1719325"/>
                </a:lnTo>
                <a:lnTo>
                  <a:pt x="455473" y="1745396"/>
                </a:lnTo>
                <a:lnTo>
                  <a:pt x="417423" y="1770174"/>
                </a:lnTo>
                <a:lnTo>
                  <a:pt x="378477" y="1793607"/>
                </a:lnTo>
                <a:lnTo>
                  <a:pt x="338599" y="1815641"/>
                </a:lnTo>
                <a:lnTo>
                  <a:pt x="297752" y="1836221"/>
                </a:lnTo>
                <a:lnTo>
                  <a:pt x="255900" y="1855294"/>
                </a:lnTo>
                <a:lnTo>
                  <a:pt x="213008" y="1872806"/>
                </a:lnTo>
                <a:lnTo>
                  <a:pt x="169040" y="1888703"/>
                </a:lnTo>
                <a:lnTo>
                  <a:pt x="123959" y="1902932"/>
                </a:lnTo>
                <a:lnTo>
                  <a:pt x="77731" y="1915438"/>
                </a:lnTo>
                <a:lnTo>
                  <a:pt x="30319" y="1926168"/>
                </a:lnTo>
                <a:lnTo>
                  <a:pt x="0" y="1931716"/>
                </a:lnTo>
              </a:path>
            </a:pathLst>
          </a:custGeom>
          <a:ln w="24998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48779"/>
            <a:ext cx="18279110" cy="50165"/>
          </a:xfrm>
          <a:custGeom>
            <a:avLst/>
            <a:gdLst/>
            <a:ahLst/>
            <a:cxnLst/>
            <a:rect l="l" t="t" r="r" b="b"/>
            <a:pathLst>
              <a:path w="18279110" h="50165">
                <a:moveTo>
                  <a:pt x="18278806" y="0"/>
                </a:moveTo>
                <a:lnTo>
                  <a:pt x="0" y="0"/>
                </a:lnTo>
                <a:lnTo>
                  <a:pt x="0" y="50012"/>
                </a:lnTo>
                <a:lnTo>
                  <a:pt x="18278806" y="50012"/>
                </a:lnTo>
                <a:lnTo>
                  <a:pt x="18278806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2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490791"/>
            <a:ext cx="15136494" cy="1875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56165" y="2391588"/>
            <a:ext cx="12041505" cy="606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32C2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"/>
            <a:ext cx="18288000" cy="2547620"/>
          </a:xfrm>
          <a:custGeom>
            <a:avLst/>
            <a:gdLst/>
            <a:ahLst/>
            <a:cxnLst/>
            <a:rect l="l" t="t" r="r" b="b"/>
            <a:pathLst>
              <a:path w="18288000" h="2547620">
                <a:moveTo>
                  <a:pt x="18287988" y="526808"/>
                </a:moveTo>
                <a:lnTo>
                  <a:pt x="3379381" y="526808"/>
                </a:lnTo>
                <a:lnTo>
                  <a:pt x="3399167" y="511873"/>
                </a:lnTo>
                <a:lnTo>
                  <a:pt x="3439693" y="482206"/>
                </a:lnTo>
                <a:lnTo>
                  <a:pt x="3480651" y="453224"/>
                </a:lnTo>
                <a:lnTo>
                  <a:pt x="3522053" y="424980"/>
                </a:lnTo>
                <a:lnTo>
                  <a:pt x="3563924" y="397522"/>
                </a:lnTo>
                <a:lnTo>
                  <a:pt x="3606292" y="370916"/>
                </a:lnTo>
                <a:lnTo>
                  <a:pt x="3649167" y="345198"/>
                </a:lnTo>
                <a:lnTo>
                  <a:pt x="3692575" y="320446"/>
                </a:lnTo>
                <a:lnTo>
                  <a:pt x="3733596" y="298069"/>
                </a:lnTo>
                <a:lnTo>
                  <a:pt x="3775227" y="276352"/>
                </a:lnTo>
                <a:lnTo>
                  <a:pt x="3817480" y="255282"/>
                </a:lnTo>
                <a:lnTo>
                  <a:pt x="3860381" y="234873"/>
                </a:lnTo>
                <a:lnTo>
                  <a:pt x="3903916" y="215099"/>
                </a:lnTo>
                <a:lnTo>
                  <a:pt x="3948125" y="195961"/>
                </a:lnTo>
                <a:lnTo>
                  <a:pt x="3993007" y="177457"/>
                </a:lnTo>
                <a:lnTo>
                  <a:pt x="4038574" y="159575"/>
                </a:lnTo>
                <a:lnTo>
                  <a:pt x="4084840" y="142328"/>
                </a:lnTo>
                <a:lnTo>
                  <a:pt x="4131830" y="125704"/>
                </a:lnTo>
                <a:lnTo>
                  <a:pt x="4179532" y="109689"/>
                </a:lnTo>
                <a:lnTo>
                  <a:pt x="4227982" y="94284"/>
                </a:lnTo>
                <a:lnTo>
                  <a:pt x="4277182" y="79489"/>
                </a:lnTo>
                <a:lnTo>
                  <a:pt x="4327131" y="65303"/>
                </a:lnTo>
                <a:lnTo>
                  <a:pt x="4377868" y="51701"/>
                </a:lnTo>
                <a:lnTo>
                  <a:pt x="4429391" y="38709"/>
                </a:lnTo>
                <a:lnTo>
                  <a:pt x="4481703" y="26301"/>
                </a:lnTo>
                <a:lnTo>
                  <a:pt x="4534840" y="14465"/>
                </a:lnTo>
                <a:lnTo>
                  <a:pt x="4588802" y="3225"/>
                </a:lnTo>
                <a:lnTo>
                  <a:pt x="4605375" y="0"/>
                </a:lnTo>
                <a:lnTo>
                  <a:pt x="4352429" y="0"/>
                </a:lnTo>
                <a:lnTo>
                  <a:pt x="4311688" y="10909"/>
                </a:lnTo>
                <a:lnTo>
                  <a:pt x="4260862" y="25361"/>
                </a:lnTo>
                <a:lnTo>
                  <a:pt x="4210812" y="40424"/>
                </a:lnTo>
                <a:lnTo>
                  <a:pt x="4161523" y="56108"/>
                </a:lnTo>
                <a:lnTo>
                  <a:pt x="4112971" y="72415"/>
                </a:lnTo>
                <a:lnTo>
                  <a:pt x="4065168" y="89357"/>
                </a:lnTo>
                <a:lnTo>
                  <a:pt x="4018076" y="106921"/>
                </a:lnTo>
                <a:lnTo>
                  <a:pt x="3971683" y="125133"/>
                </a:lnTo>
                <a:lnTo>
                  <a:pt x="3925989" y="143992"/>
                </a:lnTo>
                <a:lnTo>
                  <a:pt x="3880967" y="163499"/>
                </a:lnTo>
                <a:lnTo>
                  <a:pt x="3836606" y="183654"/>
                </a:lnTo>
                <a:lnTo>
                  <a:pt x="3792905" y="204457"/>
                </a:lnTo>
                <a:lnTo>
                  <a:pt x="3749827" y="225933"/>
                </a:lnTo>
                <a:lnTo>
                  <a:pt x="3707384" y="248069"/>
                </a:lnTo>
                <a:lnTo>
                  <a:pt x="3665537" y="270891"/>
                </a:lnTo>
                <a:lnTo>
                  <a:pt x="3621328" y="296176"/>
                </a:lnTo>
                <a:lnTo>
                  <a:pt x="3577679" y="322402"/>
                </a:lnTo>
                <a:lnTo>
                  <a:pt x="3534587" y="349491"/>
                </a:lnTo>
                <a:lnTo>
                  <a:pt x="3492042" y="377405"/>
                </a:lnTo>
                <a:lnTo>
                  <a:pt x="3449993" y="406095"/>
                </a:lnTo>
                <a:lnTo>
                  <a:pt x="3408438" y="435495"/>
                </a:lnTo>
                <a:lnTo>
                  <a:pt x="3367341" y="465569"/>
                </a:lnTo>
                <a:lnTo>
                  <a:pt x="3326676" y="496252"/>
                </a:lnTo>
                <a:lnTo>
                  <a:pt x="3287318" y="526808"/>
                </a:lnTo>
                <a:lnTo>
                  <a:pt x="0" y="526808"/>
                </a:lnTo>
                <a:lnTo>
                  <a:pt x="0" y="576821"/>
                </a:lnTo>
                <a:lnTo>
                  <a:pt x="3225076" y="576821"/>
                </a:lnTo>
                <a:lnTo>
                  <a:pt x="3207131" y="591477"/>
                </a:lnTo>
                <a:lnTo>
                  <a:pt x="3168002" y="624103"/>
                </a:lnTo>
                <a:lnTo>
                  <a:pt x="3129203" y="657072"/>
                </a:lnTo>
                <a:lnTo>
                  <a:pt x="3090710" y="690359"/>
                </a:lnTo>
                <a:lnTo>
                  <a:pt x="3052495" y="723900"/>
                </a:lnTo>
                <a:lnTo>
                  <a:pt x="2976816" y="791514"/>
                </a:lnTo>
                <a:lnTo>
                  <a:pt x="2739606" y="1008354"/>
                </a:lnTo>
                <a:lnTo>
                  <a:pt x="2637625" y="1100658"/>
                </a:lnTo>
                <a:lnTo>
                  <a:pt x="2532240" y="1194346"/>
                </a:lnTo>
                <a:lnTo>
                  <a:pt x="2460129" y="1257300"/>
                </a:lnTo>
                <a:lnTo>
                  <a:pt x="2386520" y="1320469"/>
                </a:lnTo>
                <a:lnTo>
                  <a:pt x="2311450" y="1383665"/>
                </a:lnTo>
                <a:lnTo>
                  <a:pt x="2234908" y="1446733"/>
                </a:lnTo>
                <a:lnTo>
                  <a:pt x="2156904" y="1509509"/>
                </a:lnTo>
                <a:lnTo>
                  <a:pt x="2117369" y="1540738"/>
                </a:lnTo>
                <a:lnTo>
                  <a:pt x="2077466" y="1571840"/>
                </a:lnTo>
                <a:lnTo>
                  <a:pt x="2037207" y="1602778"/>
                </a:lnTo>
                <a:lnTo>
                  <a:pt x="1996579" y="1633550"/>
                </a:lnTo>
                <a:lnTo>
                  <a:pt x="1955609" y="1664119"/>
                </a:lnTo>
                <a:lnTo>
                  <a:pt x="1914271" y="1694472"/>
                </a:lnTo>
                <a:lnTo>
                  <a:pt x="1872576" y="1724583"/>
                </a:lnTo>
                <a:lnTo>
                  <a:pt x="1830539" y="1754441"/>
                </a:lnTo>
                <a:lnTo>
                  <a:pt x="1788147" y="1784032"/>
                </a:lnTo>
                <a:lnTo>
                  <a:pt x="1745399" y="1813306"/>
                </a:lnTo>
                <a:lnTo>
                  <a:pt x="1702295" y="1842274"/>
                </a:lnTo>
                <a:lnTo>
                  <a:pt x="1658848" y="1870900"/>
                </a:lnTo>
                <a:lnTo>
                  <a:pt x="1615059" y="1899158"/>
                </a:lnTo>
                <a:lnTo>
                  <a:pt x="1570913" y="1927034"/>
                </a:lnTo>
                <a:lnTo>
                  <a:pt x="1526425" y="1954517"/>
                </a:lnTo>
                <a:lnTo>
                  <a:pt x="1481594" y="1981581"/>
                </a:lnTo>
                <a:lnTo>
                  <a:pt x="1436420" y="2008187"/>
                </a:lnTo>
                <a:lnTo>
                  <a:pt x="1390891" y="2034349"/>
                </a:lnTo>
                <a:lnTo>
                  <a:pt x="1345031" y="2060016"/>
                </a:lnTo>
                <a:lnTo>
                  <a:pt x="1298829" y="2085174"/>
                </a:lnTo>
                <a:lnTo>
                  <a:pt x="1252194" y="2109876"/>
                </a:lnTo>
                <a:lnTo>
                  <a:pt x="1204645" y="2134298"/>
                </a:lnTo>
                <a:lnTo>
                  <a:pt x="1156957" y="2158022"/>
                </a:lnTo>
                <a:lnTo>
                  <a:pt x="1109230" y="2181009"/>
                </a:lnTo>
                <a:lnTo>
                  <a:pt x="1061466" y="2203234"/>
                </a:lnTo>
                <a:lnTo>
                  <a:pt x="1013688" y="2224697"/>
                </a:lnTo>
                <a:lnTo>
                  <a:pt x="965873" y="2245423"/>
                </a:lnTo>
                <a:lnTo>
                  <a:pt x="918057" y="2265388"/>
                </a:lnTo>
                <a:lnTo>
                  <a:pt x="870229" y="2284590"/>
                </a:lnTo>
                <a:lnTo>
                  <a:pt x="822388" y="2303043"/>
                </a:lnTo>
                <a:lnTo>
                  <a:pt x="774547" y="2320734"/>
                </a:lnTo>
                <a:lnTo>
                  <a:pt x="726706" y="2337676"/>
                </a:lnTo>
                <a:lnTo>
                  <a:pt x="678891" y="2353843"/>
                </a:lnTo>
                <a:lnTo>
                  <a:pt x="631075" y="2369261"/>
                </a:lnTo>
                <a:lnTo>
                  <a:pt x="583285" y="2383917"/>
                </a:lnTo>
                <a:lnTo>
                  <a:pt x="535520" y="2397810"/>
                </a:lnTo>
                <a:lnTo>
                  <a:pt x="487781" y="2410942"/>
                </a:lnTo>
                <a:lnTo>
                  <a:pt x="440080" y="2423312"/>
                </a:lnTo>
                <a:lnTo>
                  <a:pt x="392417" y="2434920"/>
                </a:lnTo>
                <a:lnTo>
                  <a:pt x="344805" y="2445753"/>
                </a:lnTo>
                <a:lnTo>
                  <a:pt x="297243" y="2455824"/>
                </a:lnTo>
                <a:lnTo>
                  <a:pt x="249732" y="2465133"/>
                </a:lnTo>
                <a:lnTo>
                  <a:pt x="202272" y="2473680"/>
                </a:lnTo>
                <a:lnTo>
                  <a:pt x="154889" y="2481453"/>
                </a:lnTo>
                <a:lnTo>
                  <a:pt x="107213" y="2487371"/>
                </a:lnTo>
                <a:lnTo>
                  <a:pt x="59690" y="2490470"/>
                </a:lnTo>
                <a:lnTo>
                  <a:pt x="12420" y="2490813"/>
                </a:lnTo>
                <a:lnTo>
                  <a:pt x="0" y="2490190"/>
                </a:lnTo>
                <a:lnTo>
                  <a:pt x="0" y="2547023"/>
                </a:lnTo>
                <a:lnTo>
                  <a:pt x="13462" y="2547404"/>
                </a:lnTo>
                <a:lnTo>
                  <a:pt x="30022" y="2547569"/>
                </a:lnTo>
                <a:lnTo>
                  <a:pt x="58305" y="2547023"/>
                </a:lnTo>
                <a:lnTo>
                  <a:pt x="61722" y="2547023"/>
                </a:lnTo>
                <a:lnTo>
                  <a:pt x="129870" y="2541841"/>
                </a:lnTo>
                <a:lnTo>
                  <a:pt x="211162" y="2529560"/>
                </a:lnTo>
                <a:lnTo>
                  <a:pt x="259410" y="2520937"/>
                </a:lnTo>
                <a:lnTo>
                  <a:pt x="307721" y="2511539"/>
                </a:lnTo>
                <a:lnTo>
                  <a:pt x="356082" y="2501341"/>
                </a:lnTo>
                <a:lnTo>
                  <a:pt x="402501" y="2490813"/>
                </a:lnTo>
                <a:lnTo>
                  <a:pt x="452945" y="2478595"/>
                </a:lnTo>
                <a:lnTo>
                  <a:pt x="501434" y="2466035"/>
                </a:lnTo>
                <a:lnTo>
                  <a:pt x="549948" y="2452700"/>
                </a:lnTo>
                <a:lnTo>
                  <a:pt x="598487" y="2438590"/>
                </a:lnTo>
                <a:lnTo>
                  <a:pt x="647039" y="2423693"/>
                </a:lnTo>
                <a:lnTo>
                  <a:pt x="695617" y="2408034"/>
                </a:lnTo>
                <a:lnTo>
                  <a:pt x="744207" y="2391587"/>
                </a:lnTo>
                <a:lnTo>
                  <a:pt x="792797" y="2374366"/>
                </a:lnTo>
                <a:lnTo>
                  <a:pt x="841387" y="2356383"/>
                </a:lnTo>
                <a:lnTo>
                  <a:pt x="889850" y="2337676"/>
                </a:lnTo>
                <a:lnTo>
                  <a:pt x="938555" y="2318093"/>
                </a:lnTo>
                <a:lnTo>
                  <a:pt x="987120" y="2297798"/>
                </a:lnTo>
                <a:lnTo>
                  <a:pt x="1035672" y="2276754"/>
                </a:lnTo>
                <a:lnTo>
                  <a:pt x="1084186" y="2254935"/>
                </a:lnTo>
                <a:lnTo>
                  <a:pt x="1132674" y="2232355"/>
                </a:lnTo>
                <a:lnTo>
                  <a:pt x="1181138" y="2209012"/>
                </a:lnTo>
                <a:lnTo>
                  <a:pt x="1229550" y="2184920"/>
                </a:lnTo>
                <a:lnTo>
                  <a:pt x="1277912" y="2160079"/>
                </a:lnTo>
                <a:lnTo>
                  <a:pt x="1324914" y="2135238"/>
                </a:lnTo>
                <a:lnTo>
                  <a:pt x="1371561" y="2109876"/>
                </a:lnTo>
                <a:lnTo>
                  <a:pt x="1417866" y="2083993"/>
                </a:lnTo>
                <a:lnTo>
                  <a:pt x="1463814" y="2057628"/>
                </a:lnTo>
                <a:lnTo>
                  <a:pt x="1509407" y="2030806"/>
                </a:lnTo>
                <a:lnTo>
                  <a:pt x="1554657" y="2003526"/>
                </a:lnTo>
                <a:lnTo>
                  <a:pt x="1599552" y="1975827"/>
                </a:lnTo>
                <a:lnTo>
                  <a:pt x="1644091" y="1947710"/>
                </a:lnTo>
                <a:lnTo>
                  <a:pt x="1688274" y="1919224"/>
                </a:lnTo>
                <a:lnTo>
                  <a:pt x="1732102" y="1890369"/>
                </a:lnTo>
                <a:lnTo>
                  <a:pt x="1775574" y="1861172"/>
                </a:lnTo>
                <a:lnTo>
                  <a:pt x="1818690" y="1831657"/>
                </a:lnTo>
                <a:lnTo>
                  <a:pt x="1861439" y="1801837"/>
                </a:lnTo>
                <a:lnTo>
                  <a:pt x="1903831" y="1771738"/>
                </a:lnTo>
                <a:lnTo>
                  <a:pt x="1945868" y="1741385"/>
                </a:lnTo>
                <a:lnTo>
                  <a:pt x="1987537" y="1710791"/>
                </a:lnTo>
                <a:lnTo>
                  <a:pt x="2028850" y="1679981"/>
                </a:lnTo>
                <a:lnTo>
                  <a:pt x="2069782" y="1648968"/>
                </a:lnTo>
                <a:lnTo>
                  <a:pt x="2110359" y="1617776"/>
                </a:lnTo>
                <a:lnTo>
                  <a:pt x="2150580" y="1586445"/>
                </a:lnTo>
                <a:lnTo>
                  <a:pt x="2190419" y="1554962"/>
                </a:lnTo>
                <a:lnTo>
                  <a:pt x="2268994" y="1491703"/>
                </a:lnTo>
                <a:lnTo>
                  <a:pt x="2346096" y="1428140"/>
                </a:lnTo>
                <a:lnTo>
                  <a:pt x="2421712" y="1364475"/>
                </a:lnTo>
                <a:lnTo>
                  <a:pt x="2495829" y="1300848"/>
                </a:lnTo>
                <a:lnTo>
                  <a:pt x="2568435" y="1237424"/>
                </a:lnTo>
                <a:lnTo>
                  <a:pt x="2674493" y="1143063"/>
                </a:lnTo>
                <a:lnTo>
                  <a:pt x="2777121" y="1050124"/>
                </a:lnTo>
                <a:lnTo>
                  <a:pt x="3013075" y="834402"/>
                </a:lnTo>
                <a:lnTo>
                  <a:pt x="3088017" y="767410"/>
                </a:lnTo>
                <a:lnTo>
                  <a:pt x="3125838" y="734187"/>
                </a:lnTo>
                <a:lnTo>
                  <a:pt x="3163925" y="701230"/>
                </a:lnTo>
                <a:lnTo>
                  <a:pt x="3202305" y="668578"/>
                </a:lnTo>
                <a:lnTo>
                  <a:pt x="3240976" y="636295"/>
                </a:lnTo>
                <a:lnTo>
                  <a:pt x="3279991" y="604431"/>
                </a:lnTo>
                <a:lnTo>
                  <a:pt x="3314585" y="576821"/>
                </a:lnTo>
                <a:lnTo>
                  <a:pt x="18287988" y="576821"/>
                </a:lnTo>
                <a:lnTo>
                  <a:pt x="18287988" y="526808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10225" y="2916682"/>
            <a:ext cx="7225030" cy="2208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724535" marR="5080" indent="-712470">
              <a:lnSpc>
                <a:spcPts val="8550"/>
              </a:lnSpc>
              <a:spcBef>
                <a:spcPts val="290"/>
              </a:spcBef>
            </a:pPr>
            <a:r>
              <a:rPr sz="7200" spc="75" dirty="0">
                <a:solidFill>
                  <a:srgbClr val="332C2C"/>
                </a:solidFill>
                <a:latin typeface="Cambria"/>
                <a:cs typeface="Cambria"/>
              </a:rPr>
              <a:t>Machine</a:t>
            </a:r>
            <a:r>
              <a:rPr sz="720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7200" spc="70" dirty="0">
                <a:solidFill>
                  <a:srgbClr val="332C2C"/>
                </a:solidFill>
                <a:latin typeface="Cambria"/>
                <a:cs typeface="Cambria"/>
              </a:rPr>
              <a:t>Learning </a:t>
            </a:r>
            <a:r>
              <a:rPr sz="7200" spc="45" dirty="0">
                <a:solidFill>
                  <a:srgbClr val="332C2C"/>
                </a:solidFill>
                <a:latin typeface="Cambria"/>
                <a:cs typeface="Cambria"/>
              </a:rPr>
              <a:t>Assignment</a:t>
            </a:r>
            <a:r>
              <a:rPr sz="7200" spc="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7200" spc="-25" dirty="0">
                <a:solidFill>
                  <a:srgbClr val="332C2C"/>
                </a:solidFill>
                <a:latin typeface="Cambria"/>
                <a:cs typeface="Cambria"/>
              </a:rPr>
              <a:t>#2</a:t>
            </a:r>
            <a:endParaRPr sz="72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5896" y="5931827"/>
            <a:ext cx="8859990" cy="3929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7892745"/>
            <a:ext cx="18288000" cy="2395220"/>
          </a:xfrm>
          <a:custGeom>
            <a:avLst/>
            <a:gdLst/>
            <a:ahLst/>
            <a:cxnLst/>
            <a:rect l="l" t="t" r="r" b="b"/>
            <a:pathLst>
              <a:path w="18288000" h="2395220">
                <a:moveTo>
                  <a:pt x="18287988" y="0"/>
                </a:moveTo>
                <a:lnTo>
                  <a:pt x="18233682" y="5295"/>
                </a:lnTo>
                <a:lnTo>
                  <a:pt x="18156682" y="18427"/>
                </a:lnTo>
                <a:lnTo>
                  <a:pt x="18110162" y="27660"/>
                </a:lnTo>
                <a:lnTo>
                  <a:pt x="18063604" y="37706"/>
                </a:lnTo>
                <a:lnTo>
                  <a:pt x="18016995" y="48539"/>
                </a:lnTo>
                <a:lnTo>
                  <a:pt x="17970361" y="60172"/>
                </a:lnTo>
                <a:lnTo>
                  <a:pt x="17923701" y="72605"/>
                </a:lnTo>
                <a:lnTo>
                  <a:pt x="17877028" y="85839"/>
                </a:lnTo>
                <a:lnTo>
                  <a:pt x="17830330" y="99847"/>
                </a:lnTo>
                <a:lnTo>
                  <a:pt x="17783620" y="114655"/>
                </a:lnTo>
                <a:lnTo>
                  <a:pt x="17736909" y="130238"/>
                </a:lnTo>
                <a:lnTo>
                  <a:pt x="17690199" y="146621"/>
                </a:lnTo>
                <a:lnTo>
                  <a:pt x="17643501" y="163779"/>
                </a:lnTo>
                <a:lnTo>
                  <a:pt x="17596816" y="181711"/>
                </a:lnTo>
                <a:lnTo>
                  <a:pt x="17550130" y="200431"/>
                </a:lnTo>
                <a:lnTo>
                  <a:pt x="17503483" y="219925"/>
                </a:lnTo>
                <a:lnTo>
                  <a:pt x="17456862" y="240195"/>
                </a:lnTo>
                <a:lnTo>
                  <a:pt x="17410265" y="261239"/>
                </a:lnTo>
                <a:lnTo>
                  <a:pt x="17363720" y="283044"/>
                </a:lnTo>
                <a:lnTo>
                  <a:pt x="17317212" y="305638"/>
                </a:lnTo>
                <a:lnTo>
                  <a:pt x="17270756" y="328980"/>
                </a:lnTo>
                <a:lnTo>
                  <a:pt x="17224350" y="353098"/>
                </a:lnTo>
                <a:lnTo>
                  <a:pt x="17178008" y="377977"/>
                </a:lnTo>
                <a:lnTo>
                  <a:pt x="17131183" y="403872"/>
                </a:lnTo>
                <a:lnTo>
                  <a:pt x="17084726" y="430339"/>
                </a:lnTo>
                <a:lnTo>
                  <a:pt x="17038676" y="457352"/>
                </a:lnTo>
                <a:lnTo>
                  <a:pt x="16993019" y="484886"/>
                </a:lnTo>
                <a:lnTo>
                  <a:pt x="16947757" y="512914"/>
                </a:lnTo>
                <a:lnTo>
                  <a:pt x="16902875" y="541413"/>
                </a:lnTo>
                <a:lnTo>
                  <a:pt x="16858399" y="570369"/>
                </a:lnTo>
                <a:lnTo>
                  <a:pt x="16814318" y="599744"/>
                </a:lnTo>
                <a:lnTo>
                  <a:pt x="16770642" y="629513"/>
                </a:lnTo>
                <a:lnTo>
                  <a:pt x="16727348" y="659650"/>
                </a:lnTo>
                <a:lnTo>
                  <a:pt x="16684460" y="690143"/>
                </a:lnTo>
                <a:lnTo>
                  <a:pt x="16641966" y="720966"/>
                </a:lnTo>
                <a:lnTo>
                  <a:pt x="16599878" y="752068"/>
                </a:lnTo>
                <a:lnTo>
                  <a:pt x="16558197" y="783463"/>
                </a:lnTo>
                <a:lnTo>
                  <a:pt x="16516909" y="815086"/>
                </a:lnTo>
                <a:lnTo>
                  <a:pt x="16476015" y="846950"/>
                </a:lnTo>
                <a:lnTo>
                  <a:pt x="16435540" y="879005"/>
                </a:lnTo>
                <a:lnTo>
                  <a:pt x="16395459" y="911237"/>
                </a:lnTo>
                <a:lnTo>
                  <a:pt x="16355784" y="943610"/>
                </a:lnTo>
                <a:lnTo>
                  <a:pt x="16316528" y="976109"/>
                </a:lnTo>
                <a:lnTo>
                  <a:pt x="16277666" y="1008722"/>
                </a:lnTo>
                <a:lnTo>
                  <a:pt x="16239211" y="1041387"/>
                </a:lnTo>
                <a:lnTo>
                  <a:pt x="16201162" y="1074115"/>
                </a:lnTo>
                <a:lnTo>
                  <a:pt x="16126308" y="1139621"/>
                </a:lnTo>
                <a:lnTo>
                  <a:pt x="16053080" y="1205026"/>
                </a:lnTo>
                <a:lnTo>
                  <a:pt x="15981515" y="1270127"/>
                </a:lnTo>
                <a:lnTo>
                  <a:pt x="15877261" y="1366799"/>
                </a:lnTo>
                <a:lnTo>
                  <a:pt x="15618333" y="1612125"/>
                </a:lnTo>
                <a:lnTo>
                  <a:pt x="15543225" y="1682178"/>
                </a:lnTo>
                <a:lnTo>
                  <a:pt x="15505278" y="1716951"/>
                </a:lnTo>
                <a:lnTo>
                  <a:pt x="15467025" y="1751457"/>
                </a:lnTo>
                <a:lnTo>
                  <a:pt x="15428456" y="1785632"/>
                </a:lnTo>
                <a:lnTo>
                  <a:pt x="15389543" y="1819414"/>
                </a:lnTo>
                <a:lnTo>
                  <a:pt x="15350249" y="1852726"/>
                </a:lnTo>
                <a:lnTo>
                  <a:pt x="15338832" y="1862150"/>
                </a:lnTo>
                <a:lnTo>
                  <a:pt x="0" y="1862150"/>
                </a:lnTo>
                <a:lnTo>
                  <a:pt x="0" y="1912150"/>
                </a:lnTo>
                <a:lnTo>
                  <a:pt x="15277338" y="1912150"/>
                </a:lnTo>
                <a:lnTo>
                  <a:pt x="15270417" y="1917712"/>
                </a:lnTo>
                <a:lnTo>
                  <a:pt x="15229840" y="1949246"/>
                </a:lnTo>
                <a:lnTo>
                  <a:pt x="15188768" y="1980057"/>
                </a:lnTo>
                <a:lnTo>
                  <a:pt x="15147176" y="2010067"/>
                </a:lnTo>
                <a:lnTo>
                  <a:pt x="15105063" y="2039226"/>
                </a:lnTo>
                <a:lnTo>
                  <a:pt x="15062378" y="2067458"/>
                </a:lnTo>
                <a:lnTo>
                  <a:pt x="15019096" y="2094699"/>
                </a:lnTo>
                <a:lnTo>
                  <a:pt x="14975193" y="2120887"/>
                </a:lnTo>
                <a:lnTo>
                  <a:pt x="14933422" y="2144623"/>
                </a:lnTo>
                <a:lnTo>
                  <a:pt x="14890928" y="2167623"/>
                </a:lnTo>
                <a:lnTo>
                  <a:pt x="14847710" y="2189886"/>
                </a:lnTo>
                <a:lnTo>
                  <a:pt x="14803628" y="2211489"/>
                </a:lnTo>
                <a:lnTo>
                  <a:pt x="14759013" y="2232266"/>
                </a:lnTo>
                <a:lnTo>
                  <a:pt x="14713509" y="2252370"/>
                </a:lnTo>
                <a:lnTo>
                  <a:pt x="14667217" y="2271788"/>
                </a:lnTo>
                <a:lnTo>
                  <a:pt x="14620100" y="2290495"/>
                </a:lnTo>
                <a:lnTo>
                  <a:pt x="14572158" y="2308504"/>
                </a:lnTo>
                <a:lnTo>
                  <a:pt x="14523390" y="2325827"/>
                </a:lnTo>
                <a:lnTo>
                  <a:pt x="14473746" y="2342477"/>
                </a:lnTo>
                <a:lnTo>
                  <a:pt x="14423238" y="2358440"/>
                </a:lnTo>
                <a:lnTo>
                  <a:pt x="14371841" y="2373731"/>
                </a:lnTo>
                <a:lnTo>
                  <a:pt x="14319530" y="2388374"/>
                </a:lnTo>
                <a:lnTo>
                  <a:pt x="14294180" y="2395029"/>
                </a:lnTo>
                <a:lnTo>
                  <a:pt x="14481035" y="2395029"/>
                </a:lnTo>
                <a:lnTo>
                  <a:pt x="14519682" y="2382355"/>
                </a:lnTo>
                <a:lnTo>
                  <a:pt x="14567078" y="2365933"/>
                </a:lnTo>
                <a:lnTo>
                  <a:pt x="14613700" y="2348877"/>
                </a:lnTo>
                <a:lnTo>
                  <a:pt x="14659572" y="2331199"/>
                </a:lnTo>
                <a:lnTo>
                  <a:pt x="14704695" y="2312873"/>
                </a:lnTo>
                <a:lnTo>
                  <a:pt x="14749094" y="2293912"/>
                </a:lnTo>
                <a:lnTo>
                  <a:pt x="14792795" y="2274290"/>
                </a:lnTo>
                <a:lnTo>
                  <a:pt x="14835785" y="2254021"/>
                </a:lnTo>
                <a:lnTo>
                  <a:pt x="14878101" y="2233091"/>
                </a:lnTo>
                <a:lnTo>
                  <a:pt x="14919757" y="2211489"/>
                </a:lnTo>
                <a:lnTo>
                  <a:pt x="14960753" y="2189226"/>
                </a:lnTo>
                <a:lnTo>
                  <a:pt x="15001101" y="2166277"/>
                </a:lnTo>
                <a:lnTo>
                  <a:pt x="15043595" y="2140902"/>
                </a:lnTo>
                <a:lnTo>
                  <a:pt x="15085492" y="2114588"/>
                </a:lnTo>
                <a:lnTo>
                  <a:pt x="15126792" y="2087397"/>
                </a:lnTo>
                <a:lnTo>
                  <a:pt x="15167547" y="2059393"/>
                </a:lnTo>
                <a:lnTo>
                  <a:pt x="15207768" y="2030615"/>
                </a:lnTo>
                <a:lnTo>
                  <a:pt x="15247481" y="2001126"/>
                </a:lnTo>
                <a:lnTo>
                  <a:pt x="15286724" y="1970989"/>
                </a:lnTo>
                <a:lnTo>
                  <a:pt x="15325509" y="1940255"/>
                </a:lnTo>
                <a:lnTo>
                  <a:pt x="15359964" y="1912150"/>
                </a:lnTo>
                <a:lnTo>
                  <a:pt x="18287988" y="1912150"/>
                </a:lnTo>
                <a:lnTo>
                  <a:pt x="18287988" y="1862150"/>
                </a:lnTo>
                <a:lnTo>
                  <a:pt x="15419375" y="1862150"/>
                </a:lnTo>
                <a:lnTo>
                  <a:pt x="15439403" y="1844979"/>
                </a:lnTo>
                <a:lnTo>
                  <a:pt x="15476639" y="1812391"/>
                </a:lnTo>
                <a:lnTo>
                  <a:pt x="15513546" y="1779485"/>
                </a:lnTo>
                <a:lnTo>
                  <a:pt x="15550160" y="1746288"/>
                </a:lnTo>
                <a:lnTo>
                  <a:pt x="15586494" y="1712887"/>
                </a:lnTo>
                <a:lnTo>
                  <a:pt x="15658465" y="1645666"/>
                </a:lnTo>
                <a:lnTo>
                  <a:pt x="15912275" y="1405229"/>
                </a:lnTo>
                <a:lnTo>
                  <a:pt x="16015856" y="1309255"/>
                </a:lnTo>
                <a:lnTo>
                  <a:pt x="16086951" y="1244612"/>
                </a:lnTo>
                <a:lnTo>
                  <a:pt x="16159671" y="1179690"/>
                </a:lnTo>
                <a:lnTo>
                  <a:pt x="16234004" y="1114679"/>
                </a:lnTo>
                <a:lnTo>
                  <a:pt x="16271774" y="1082205"/>
                </a:lnTo>
                <a:lnTo>
                  <a:pt x="16309937" y="1049782"/>
                </a:lnTo>
                <a:lnTo>
                  <a:pt x="16348520" y="1017422"/>
                </a:lnTo>
                <a:lnTo>
                  <a:pt x="16387483" y="985177"/>
                </a:lnTo>
                <a:lnTo>
                  <a:pt x="16426853" y="953046"/>
                </a:lnTo>
                <a:lnTo>
                  <a:pt x="16466617" y="921067"/>
                </a:lnTo>
                <a:lnTo>
                  <a:pt x="16506787" y="889266"/>
                </a:lnTo>
                <a:lnTo>
                  <a:pt x="16547351" y="857656"/>
                </a:lnTo>
                <a:lnTo>
                  <a:pt x="16588296" y="826274"/>
                </a:lnTo>
                <a:lnTo>
                  <a:pt x="16629647" y="795134"/>
                </a:lnTo>
                <a:lnTo>
                  <a:pt x="16671392" y="764273"/>
                </a:lnTo>
                <a:lnTo>
                  <a:pt x="16713530" y="733704"/>
                </a:lnTo>
                <a:lnTo>
                  <a:pt x="16756050" y="703453"/>
                </a:lnTo>
                <a:lnTo>
                  <a:pt x="16798976" y="673557"/>
                </a:lnTo>
                <a:lnTo>
                  <a:pt x="16842283" y="644029"/>
                </a:lnTo>
                <a:lnTo>
                  <a:pt x="16885971" y="614883"/>
                </a:lnTo>
                <a:lnTo>
                  <a:pt x="16930053" y="586168"/>
                </a:lnTo>
                <a:lnTo>
                  <a:pt x="16974528" y="557898"/>
                </a:lnTo>
                <a:lnTo>
                  <a:pt x="17019385" y="530085"/>
                </a:lnTo>
                <a:lnTo>
                  <a:pt x="17064622" y="502767"/>
                </a:lnTo>
                <a:lnTo>
                  <a:pt x="17110253" y="475983"/>
                </a:lnTo>
                <a:lnTo>
                  <a:pt x="17156265" y="449719"/>
                </a:lnTo>
                <a:lnTo>
                  <a:pt x="17202646" y="424040"/>
                </a:lnTo>
                <a:lnTo>
                  <a:pt x="17250474" y="398373"/>
                </a:lnTo>
                <a:lnTo>
                  <a:pt x="17298353" y="373557"/>
                </a:lnTo>
                <a:lnTo>
                  <a:pt x="17346295" y="349567"/>
                </a:lnTo>
                <a:lnTo>
                  <a:pt x="17394276" y="326415"/>
                </a:lnTo>
                <a:lnTo>
                  <a:pt x="17442307" y="304088"/>
                </a:lnTo>
                <a:lnTo>
                  <a:pt x="17490377" y="282613"/>
                </a:lnTo>
                <a:lnTo>
                  <a:pt x="17538472" y="261962"/>
                </a:lnTo>
                <a:lnTo>
                  <a:pt x="17586592" y="242163"/>
                </a:lnTo>
                <a:lnTo>
                  <a:pt x="17634725" y="223202"/>
                </a:lnTo>
                <a:lnTo>
                  <a:pt x="17682871" y="205079"/>
                </a:lnTo>
                <a:lnTo>
                  <a:pt x="17731029" y="187794"/>
                </a:lnTo>
                <a:lnTo>
                  <a:pt x="17779188" y="171361"/>
                </a:lnTo>
                <a:lnTo>
                  <a:pt x="17827333" y="155765"/>
                </a:lnTo>
                <a:lnTo>
                  <a:pt x="17875466" y="141020"/>
                </a:lnTo>
                <a:lnTo>
                  <a:pt x="17923587" y="127127"/>
                </a:lnTo>
                <a:lnTo>
                  <a:pt x="17971681" y="114071"/>
                </a:lnTo>
                <a:lnTo>
                  <a:pt x="18019738" y="101879"/>
                </a:lnTo>
                <a:lnTo>
                  <a:pt x="18067757" y="90525"/>
                </a:lnTo>
                <a:lnTo>
                  <a:pt x="18115738" y="80022"/>
                </a:lnTo>
                <a:lnTo>
                  <a:pt x="18163667" y="70383"/>
                </a:lnTo>
                <a:lnTo>
                  <a:pt x="18211534" y="61595"/>
                </a:lnTo>
                <a:lnTo>
                  <a:pt x="18259552" y="54864"/>
                </a:lnTo>
                <a:lnTo>
                  <a:pt x="18287988" y="52717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84418" y="6737572"/>
            <a:ext cx="667956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95" dirty="0">
                <a:solidFill>
                  <a:srgbClr val="332C2C"/>
                </a:solidFill>
                <a:latin typeface="Century Gothic"/>
                <a:cs typeface="Century Gothic"/>
              </a:rPr>
              <a:t>Qasim</a:t>
            </a:r>
            <a:r>
              <a:rPr sz="3150" spc="-10" dirty="0">
                <a:solidFill>
                  <a:srgbClr val="332C2C"/>
                </a:solidFill>
                <a:latin typeface="Century Gothic"/>
                <a:cs typeface="Century Gothic"/>
              </a:rPr>
              <a:t> </a:t>
            </a:r>
            <a:r>
              <a:rPr sz="3150" spc="85" dirty="0">
                <a:solidFill>
                  <a:srgbClr val="332C2C"/>
                </a:solidFill>
                <a:latin typeface="Century Gothic"/>
                <a:cs typeface="Century Gothic"/>
              </a:rPr>
              <a:t>Batrawi</a:t>
            </a:r>
            <a:r>
              <a:rPr sz="3150" spc="-5" dirty="0">
                <a:solidFill>
                  <a:srgbClr val="332C2C"/>
                </a:solidFill>
                <a:latin typeface="Century Gothic"/>
                <a:cs typeface="Century Gothic"/>
              </a:rPr>
              <a:t> </a:t>
            </a:r>
            <a:r>
              <a:rPr sz="3150" spc="145" dirty="0">
                <a:solidFill>
                  <a:srgbClr val="332C2C"/>
                </a:solidFill>
                <a:latin typeface="Century Gothic"/>
                <a:cs typeface="Century Gothic"/>
              </a:rPr>
              <a:t>-</a:t>
            </a:r>
            <a:r>
              <a:rPr sz="3150" spc="-10" dirty="0">
                <a:solidFill>
                  <a:srgbClr val="332C2C"/>
                </a:solidFill>
                <a:latin typeface="Century Gothic"/>
                <a:cs typeface="Century Gothic"/>
              </a:rPr>
              <a:t> </a:t>
            </a:r>
            <a:r>
              <a:rPr sz="3150" dirty="0">
                <a:solidFill>
                  <a:srgbClr val="332C2C"/>
                </a:solidFill>
                <a:latin typeface="Century Gothic"/>
                <a:cs typeface="Century Gothic"/>
              </a:rPr>
              <a:t>Ahmad</a:t>
            </a:r>
            <a:r>
              <a:rPr sz="3150" spc="-5" dirty="0">
                <a:solidFill>
                  <a:srgbClr val="332C2C"/>
                </a:solidFill>
                <a:latin typeface="Century Gothic"/>
                <a:cs typeface="Century Gothic"/>
              </a:rPr>
              <a:t> </a:t>
            </a:r>
            <a:r>
              <a:rPr sz="3150" spc="40" dirty="0">
                <a:solidFill>
                  <a:srgbClr val="332C2C"/>
                </a:solidFill>
                <a:latin typeface="Century Gothic"/>
                <a:cs typeface="Century Gothic"/>
              </a:rPr>
              <a:t>Hamdan</a:t>
            </a:r>
            <a:endParaRPr sz="31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25681" y="8025555"/>
            <a:ext cx="1862455" cy="2261870"/>
          </a:xfrm>
          <a:custGeom>
            <a:avLst/>
            <a:gdLst/>
            <a:ahLst/>
            <a:cxnLst/>
            <a:rect l="l" t="t" r="r" b="b"/>
            <a:pathLst>
              <a:path w="1862455" h="2261870">
                <a:moveTo>
                  <a:pt x="1862332" y="0"/>
                </a:moveTo>
                <a:lnTo>
                  <a:pt x="1821264" y="16807"/>
                </a:lnTo>
                <a:lnTo>
                  <a:pt x="1781165" y="35336"/>
                </a:lnTo>
                <a:lnTo>
                  <a:pt x="1741995" y="55533"/>
                </a:lnTo>
                <a:lnTo>
                  <a:pt x="1703726" y="77345"/>
                </a:lnTo>
                <a:lnTo>
                  <a:pt x="1666326" y="100717"/>
                </a:lnTo>
                <a:lnTo>
                  <a:pt x="1629767" y="125597"/>
                </a:lnTo>
                <a:lnTo>
                  <a:pt x="1594017" y="151928"/>
                </a:lnTo>
                <a:lnTo>
                  <a:pt x="1559048" y="179659"/>
                </a:lnTo>
                <a:lnTo>
                  <a:pt x="1524828" y="208736"/>
                </a:lnTo>
                <a:lnTo>
                  <a:pt x="1491329" y="239103"/>
                </a:lnTo>
                <a:lnTo>
                  <a:pt x="1458519" y="270709"/>
                </a:lnTo>
                <a:lnTo>
                  <a:pt x="1426370" y="303498"/>
                </a:lnTo>
                <a:lnTo>
                  <a:pt x="1394850" y="337417"/>
                </a:lnTo>
                <a:lnTo>
                  <a:pt x="1363930" y="372413"/>
                </a:lnTo>
                <a:lnTo>
                  <a:pt x="1333580" y="408431"/>
                </a:lnTo>
                <a:lnTo>
                  <a:pt x="1303770" y="445417"/>
                </a:lnTo>
                <a:lnTo>
                  <a:pt x="1274470" y="483318"/>
                </a:lnTo>
                <a:lnTo>
                  <a:pt x="1245649" y="522081"/>
                </a:lnTo>
                <a:lnTo>
                  <a:pt x="1217279" y="561650"/>
                </a:lnTo>
                <a:lnTo>
                  <a:pt x="1189328" y="601973"/>
                </a:lnTo>
                <a:lnTo>
                  <a:pt x="1161767" y="642995"/>
                </a:lnTo>
                <a:lnTo>
                  <a:pt x="1134566" y="684663"/>
                </a:lnTo>
                <a:lnTo>
                  <a:pt x="1107694" y="726922"/>
                </a:lnTo>
                <a:lnTo>
                  <a:pt x="1081122" y="769720"/>
                </a:lnTo>
                <a:lnTo>
                  <a:pt x="1054820" y="813002"/>
                </a:lnTo>
                <a:lnTo>
                  <a:pt x="1028758" y="856715"/>
                </a:lnTo>
                <a:lnTo>
                  <a:pt x="1002905" y="900804"/>
                </a:lnTo>
                <a:lnTo>
                  <a:pt x="977232" y="945216"/>
                </a:lnTo>
                <a:lnTo>
                  <a:pt x="951708" y="989897"/>
                </a:lnTo>
                <a:lnTo>
                  <a:pt x="926304" y="1034793"/>
                </a:lnTo>
                <a:lnTo>
                  <a:pt x="900990" y="1079851"/>
                </a:lnTo>
                <a:lnTo>
                  <a:pt x="875736" y="1125016"/>
                </a:lnTo>
                <a:lnTo>
                  <a:pt x="850510" y="1170235"/>
                </a:lnTo>
                <a:lnTo>
                  <a:pt x="825294" y="1215454"/>
                </a:lnTo>
                <a:lnTo>
                  <a:pt x="800047" y="1260620"/>
                </a:lnTo>
                <a:lnTo>
                  <a:pt x="774740" y="1305678"/>
                </a:lnTo>
                <a:lnTo>
                  <a:pt x="749343" y="1350575"/>
                </a:lnTo>
                <a:lnTo>
                  <a:pt x="723825" y="1395256"/>
                </a:lnTo>
                <a:lnTo>
                  <a:pt x="698157" y="1439668"/>
                </a:lnTo>
                <a:lnTo>
                  <a:pt x="672308" y="1483758"/>
                </a:lnTo>
                <a:lnTo>
                  <a:pt x="646249" y="1527470"/>
                </a:lnTo>
                <a:lnTo>
                  <a:pt x="619950" y="1570752"/>
                </a:lnTo>
                <a:lnTo>
                  <a:pt x="593380" y="1613550"/>
                </a:lnTo>
                <a:lnTo>
                  <a:pt x="566510" y="1655810"/>
                </a:lnTo>
                <a:lnTo>
                  <a:pt x="539310" y="1697478"/>
                </a:lnTo>
                <a:lnTo>
                  <a:pt x="511749" y="1738500"/>
                </a:lnTo>
                <a:lnTo>
                  <a:pt x="483799" y="1778822"/>
                </a:lnTo>
                <a:lnTo>
                  <a:pt x="455428" y="1818391"/>
                </a:lnTo>
                <a:lnTo>
                  <a:pt x="426606" y="1857153"/>
                </a:lnTo>
                <a:lnTo>
                  <a:pt x="397305" y="1895054"/>
                </a:lnTo>
                <a:lnTo>
                  <a:pt x="367493" y="1932041"/>
                </a:lnTo>
                <a:lnTo>
                  <a:pt x="337142" y="1968058"/>
                </a:lnTo>
                <a:lnTo>
                  <a:pt x="306220" y="2003053"/>
                </a:lnTo>
                <a:lnTo>
                  <a:pt x="274698" y="2036972"/>
                </a:lnTo>
                <a:lnTo>
                  <a:pt x="242546" y="2069761"/>
                </a:lnTo>
                <a:lnTo>
                  <a:pt x="209733" y="2101366"/>
                </a:lnTo>
                <a:lnTo>
                  <a:pt x="176231" y="2131734"/>
                </a:lnTo>
                <a:lnTo>
                  <a:pt x="142009" y="2160809"/>
                </a:lnTo>
                <a:lnTo>
                  <a:pt x="107036" y="2188540"/>
                </a:lnTo>
                <a:lnTo>
                  <a:pt x="71284" y="2214872"/>
                </a:lnTo>
                <a:lnTo>
                  <a:pt x="34721" y="2239750"/>
                </a:lnTo>
                <a:lnTo>
                  <a:pt x="0" y="2261447"/>
                </a:lnTo>
              </a:path>
            </a:pathLst>
          </a:custGeom>
          <a:ln w="24998">
            <a:solidFill>
              <a:srgbClr val="33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499" y="-12499"/>
            <a:ext cx="18291810" cy="1957070"/>
            <a:chOff x="-12499" y="-12499"/>
            <a:chExt cx="18291810" cy="195707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974850" cy="1932305"/>
            </a:xfrm>
            <a:custGeom>
              <a:avLst/>
              <a:gdLst/>
              <a:ahLst/>
              <a:cxnLst/>
              <a:rect l="l" t="t" r="r" b="b"/>
              <a:pathLst>
                <a:path w="1974850" h="1932305">
                  <a:moveTo>
                    <a:pt x="1974494" y="0"/>
                  </a:moveTo>
                  <a:lnTo>
                    <a:pt x="1930282" y="28487"/>
                  </a:lnTo>
                  <a:lnTo>
                    <a:pt x="1893093" y="54558"/>
                  </a:lnTo>
                  <a:lnTo>
                    <a:pt x="1856730" y="81867"/>
                  </a:lnTo>
                  <a:lnTo>
                    <a:pt x="1821156" y="110360"/>
                  </a:lnTo>
                  <a:lnTo>
                    <a:pt x="1786335" y="139984"/>
                  </a:lnTo>
                  <a:lnTo>
                    <a:pt x="1752231" y="170684"/>
                  </a:lnTo>
                  <a:lnTo>
                    <a:pt x="1718810" y="202407"/>
                  </a:lnTo>
                  <a:lnTo>
                    <a:pt x="1686033" y="235099"/>
                  </a:lnTo>
                  <a:lnTo>
                    <a:pt x="1653867" y="268706"/>
                  </a:lnTo>
                  <a:lnTo>
                    <a:pt x="1622275" y="303174"/>
                  </a:lnTo>
                  <a:lnTo>
                    <a:pt x="1591221" y="338449"/>
                  </a:lnTo>
                  <a:lnTo>
                    <a:pt x="1560669" y="374478"/>
                  </a:lnTo>
                  <a:lnTo>
                    <a:pt x="1530583" y="411207"/>
                  </a:lnTo>
                  <a:lnTo>
                    <a:pt x="1500928" y="448582"/>
                  </a:lnTo>
                  <a:lnTo>
                    <a:pt x="1471668" y="486549"/>
                  </a:lnTo>
                  <a:lnTo>
                    <a:pt x="1442766" y="525054"/>
                  </a:lnTo>
                  <a:lnTo>
                    <a:pt x="1414187" y="564044"/>
                  </a:lnTo>
                  <a:lnTo>
                    <a:pt x="1385895" y="603464"/>
                  </a:lnTo>
                  <a:lnTo>
                    <a:pt x="1357855" y="643261"/>
                  </a:lnTo>
                  <a:lnTo>
                    <a:pt x="1330029" y="683380"/>
                  </a:lnTo>
                  <a:lnTo>
                    <a:pt x="1302383" y="723769"/>
                  </a:lnTo>
                  <a:lnTo>
                    <a:pt x="1274881" y="764373"/>
                  </a:lnTo>
                  <a:lnTo>
                    <a:pt x="1247486" y="805139"/>
                  </a:lnTo>
                  <a:lnTo>
                    <a:pt x="1220162" y="846012"/>
                  </a:lnTo>
                  <a:lnTo>
                    <a:pt x="1192875" y="886939"/>
                  </a:lnTo>
                  <a:lnTo>
                    <a:pt x="1165588" y="927867"/>
                  </a:lnTo>
                  <a:lnTo>
                    <a:pt x="1138265" y="968741"/>
                  </a:lnTo>
                  <a:lnTo>
                    <a:pt x="1110870" y="1009508"/>
                  </a:lnTo>
                  <a:lnTo>
                    <a:pt x="1083367" y="1050113"/>
                  </a:lnTo>
                  <a:lnTo>
                    <a:pt x="1055721" y="1090502"/>
                  </a:lnTo>
                  <a:lnTo>
                    <a:pt x="1027896" y="1130622"/>
                  </a:lnTo>
                  <a:lnTo>
                    <a:pt x="999855" y="1170420"/>
                  </a:lnTo>
                  <a:lnTo>
                    <a:pt x="971564" y="1209840"/>
                  </a:lnTo>
                  <a:lnTo>
                    <a:pt x="942985" y="1248830"/>
                  </a:lnTo>
                  <a:lnTo>
                    <a:pt x="914083" y="1287335"/>
                  </a:lnTo>
                  <a:lnTo>
                    <a:pt x="884823" y="1325302"/>
                  </a:lnTo>
                  <a:lnTo>
                    <a:pt x="855168" y="1362677"/>
                  </a:lnTo>
                  <a:lnTo>
                    <a:pt x="825083" y="1399406"/>
                  </a:lnTo>
                  <a:lnTo>
                    <a:pt x="794531" y="1435435"/>
                  </a:lnTo>
                  <a:lnTo>
                    <a:pt x="763477" y="1470711"/>
                  </a:lnTo>
                  <a:lnTo>
                    <a:pt x="731885" y="1505179"/>
                  </a:lnTo>
                  <a:lnTo>
                    <a:pt x="699719" y="1538785"/>
                  </a:lnTo>
                  <a:lnTo>
                    <a:pt x="666943" y="1571477"/>
                  </a:lnTo>
                  <a:lnTo>
                    <a:pt x="633522" y="1603200"/>
                  </a:lnTo>
                  <a:lnTo>
                    <a:pt x="599419" y="1633900"/>
                  </a:lnTo>
                  <a:lnTo>
                    <a:pt x="564598" y="1663523"/>
                  </a:lnTo>
                  <a:lnTo>
                    <a:pt x="529024" y="1692016"/>
                  </a:lnTo>
                  <a:lnTo>
                    <a:pt x="492661" y="1719325"/>
                  </a:lnTo>
                  <a:lnTo>
                    <a:pt x="455473" y="1745396"/>
                  </a:lnTo>
                  <a:lnTo>
                    <a:pt x="417423" y="1770174"/>
                  </a:lnTo>
                  <a:lnTo>
                    <a:pt x="378477" y="1793607"/>
                  </a:lnTo>
                  <a:lnTo>
                    <a:pt x="338599" y="1815641"/>
                  </a:lnTo>
                  <a:lnTo>
                    <a:pt x="297752" y="1836221"/>
                  </a:lnTo>
                  <a:lnTo>
                    <a:pt x="255900" y="1855294"/>
                  </a:lnTo>
                  <a:lnTo>
                    <a:pt x="213008" y="1872806"/>
                  </a:lnTo>
                  <a:lnTo>
                    <a:pt x="169040" y="1888703"/>
                  </a:lnTo>
                  <a:lnTo>
                    <a:pt x="123959" y="1902932"/>
                  </a:lnTo>
                  <a:lnTo>
                    <a:pt x="77731" y="1915438"/>
                  </a:lnTo>
                  <a:lnTo>
                    <a:pt x="30319" y="1926168"/>
                  </a:lnTo>
                  <a:lnTo>
                    <a:pt x="0" y="1931716"/>
                  </a:lnTo>
                </a:path>
              </a:pathLst>
            </a:custGeom>
            <a:ln w="24998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48779"/>
              <a:ext cx="18279110" cy="50165"/>
            </a:xfrm>
            <a:custGeom>
              <a:avLst/>
              <a:gdLst/>
              <a:ahLst/>
              <a:cxnLst/>
              <a:rect l="l" t="t" r="r" b="b"/>
              <a:pathLst>
                <a:path w="18279110" h="50165">
                  <a:moveTo>
                    <a:pt x="18278806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78806" y="50012"/>
                  </a:lnTo>
                  <a:lnTo>
                    <a:pt x="18278806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13705" y="4624584"/>
            <a:ext cx="8226425" cy="1040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50" dirty="0">
                <a:solidFill>
                  <a:srgbClr val="332C2C"/>
                </a:solidFill>
                <a:latin typeface="Cambria"/>
                <a:cs typeface="Cambria"/>
              </a:rPr>
              <a:t>Non-linear</a:t>
            </a:r>
            <a:r>
              <a:rPr sz="6650" spc="2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6650" spc="-10" dirty="0">
                <a:solidFill>
                  <a:srgbClr val="332C2C"/>
                </a:solidFill>
                <a:latin typeface="Cambria"/>
                <a:cs typeface="Cambria"/>
              </a:rPr>
              <a:t>Regression</a:t>
            </a:r>
            <a:endParaRPr sz="665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250" spc="-715" dirty="0"/>
              <a:t>01</a:t>
            </a:r>
            <a:endParaRPr sz="1125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7152" y="6447028"/>
            <a:ext cx="5739041" cy="6550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9753003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9008110"/>
            <a:chOff x="0" y="-12500"/>
            <a:chExt cx="18300700" cy="9008110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87988" y="50012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513" y="2241816"/>
              <a:ext cx="9143999" cy="67532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49806" y="2871978"/>
            <a:ext cx="6767195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00099"/>
              </a:lnSpc>
              <a:spcBef>
                <a:spcPts val="95"/>
              </a:spcBef>
              <a:tabLst>
                <a:tab pos="1726564" algn="l"/>
              </a:tabLst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This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graph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illustrates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90" dirty="0">
                <a:solidFill>
                  <a:srgbClr val="332C2C"/>
                </a:solidFill>
                <a:latin typeface="Cambria"/>
                <a:cs typeface="Cambria"/>
              </a:rPr>
              <a:t>25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points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generated</a:t>
            </a:r>
            <a:r>
              <a:rPr sz="2850" spc="10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from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target</a:t>
            </a:r>
            <a:r>
              <a:rPr sz="2850" spc="1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1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y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50" dirty="0">
                <a:solidFill>
                  <a:srgbClr val="332C2C"/>
                </a:solidFill>
                <a:latin typeface="Cambria"/>
                <a:cs typeface="Cambria"/>
              </a:rPr>
              <a:t>= </a:t>
            </a:r>
            <a:r>
              <a:rPr sz="2850" spc="-95" dirty="0">
                <a:solidFill>
                  <a:srgbClr val="332C2C"/>
                </a:solidFill>
                <a:latin typeface="Cambria"/>
                <a:cs typeface="Cambria"/>
              </a:rPr>
              <a:t>sin(5</a:t>
            </a:r>
            <a:r>
              <a:rPr sz="2850" spc="-95" dirty="0">
                <a:solidFill>
                  <a:srgbClr val="332C2C"/>
                </a:solidFill>
                <a:latin typeface="Arial"/>
                <a:cs typeface="Arial"/>
              </a:rPr>
              <a:t>π</a:t>
            </a:r>
            <a:r>
              <a:rPr sz="2850" spc="-95" dirty="0">
                <a:solidFill>
                  <a:srgbClr val="332C2C"/>
                </a:solidFill>
                <a:latin typeface="Cambria"/>
                <a:cs typeface="Cambria"/>
              </a:rPr>
              <a:t>x)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+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850" spc="55" dirty="0">
                <a:solidFill>
                  <a:srgbClr val="332C2C"/>
                </a:solidFill>
                <a:latin typeface="Arial"/>
                <a:cs typeface="Arial"/>
              </a:rPr>
              <a:t>ε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,</a:t>
            </a:r>
            <a:r>
              <a:rPr sz="2850" spc="-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where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noise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60" dirty="0">
                <a:solidFill>
                  <a:srgbClr val="332C2C"/>
                </a:solidFill>
                <a:latin typeface="Arial"/>
                <a:cs typeface="Arial"/>
              </a:rPr>
              <a:t>ε</a:t>
            </a:r>
            <a:r>
              <a:rPr sz="2850" spc="-18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spc="-275" dirty="0">
                <a:solidFill>
                  <a:srgbClr val="332C2C"/>
                </a:solidFill>
                <a:latin typeface="Lucida Sans Unicode"/>
                <a:cs typeface="Lucida Sans Unicode"/>
              </a:rPr>
              <a:t>∈</a:t>
            </a:r>
            <a:r>
              <a:rPr sz="2850" spc="-260" dirty="0">
                <a:solidFill>
                  <a:srgbClr val="332C2C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[−0.3,0.3]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was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added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each</a:t>
            </a:r>
            <a:r>
              <a:rPr sz="2850" spc="-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sample.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6550" y="5887834"/>
            <a:ext cx="7031355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 algn="ctr">
              <a:lnSpc>
                <a:spcPct val="100099"/>
              </a:lnSpc>
              <a:spcBef>
                <a:spcPts val="9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dataset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small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,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making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sensitive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to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noise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ideal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for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analyzing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how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polynomial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regression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behaves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overfitting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and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underfitting.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Dataset</a:t>
            </a:r>
            <a:r>
              <a:rPr spc="55" dirty="0"/>
              <a:t> </a:t>
            </a:r>
            <a:r>
              <a:rPr spc="35" dirty="0"/>
              <a:t>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87988" y="50012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41375" y="4086225"/>
            <a:ext cx="6981190" cy="26314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0899"/>
              </a:lnSpc>
              <a:spcBef>
                <a:spcPts val="7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Small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5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values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produce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highly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flexible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curves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that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tend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overfit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noise.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850">
              <a:latin typeface="Cambria"/>
              <a:cs typeface="Cambria"/>
            </a:endParaRPr>
          </a:p>
          <a:p>
            <a:pPr marL="340995" marR="330835" algn="ctr">
              <a:lnSpc>
                <a:spcPct val="99800"/>
              </a:lnSpc>
              <a:spcBef>
                <a:spcPts val="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Larger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5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values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produce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smoother,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more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stable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curves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may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underfit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true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sinusoidal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shape.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6251" y="2595321"/>
            <a:ext cx="4134485" cy="722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50" spc="-110" dirty="0">
                <a:solidFill>
                  <a:srgbClr val="332C2C"/>
                </a:solidFill>
                <a:latin typeface="Cambria"/>
                <a:cs typeface="Cambria"/>
              </a:rPr>
              <a:t>We</a:t>
            </a:r>
            <a:r>
              <a:rPr sz="4550" spc="-9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dirty="0">
                <a:solidFill>
                  <a:srgbClr val="332C2C"/>
                </a:solidFill>
                <a:latin typeface="Cambria"/>
                <a:cs typeface="Cambria"/>
              </a:rPr>
              <a:t>learned</a:t>
            </a:r>
            <a:r>
              <a:rPr sz="4550" spc="-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spc="-10" dirty="0">
                <a:solidFill>
                  <a:srgbClr val="332C2C"/>
                </a:solidFill>
                <a:latin typeface="Cambria"/>
                <a:cs typeface="Cambria"/>
              </a:rPr>
              <a:t>that:</a:t>
            </a:r>
            <a:endParaRPr sz="455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Ridge</a:t>
            </a:r>
            <a:r>
              <a:rPr spc="80" dirty="0"/>
              <a:t> </a:t>
            </a:r>
            <a:r>
              <a:rPr dirty="0"/>
              <a:t>Regression:</a:t>
            </a:r>
            <a:r>
              <a:rPr spc="80" dirty="0"/>
              <a:t> </a:t>
            </a:r>
            <a:r>
              <a:rPr spc="85" dirty="0"/>
              <a:t>Effect</a:t>
            </a:r>
            <a:r>
              <a:rPr spc="80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spc="85" dirty="0">
                <a:latin typeface="Arial"/>
                <a:cs typeface="Arial"/>
              </a:rPr>
              <a:t>λ</a:t>
            </a:r>
            <a:r>
              <a:rPr spc="-254" dirty="0">
                <a:latin typeface="Arial"/>
                <a:cs typeface="Arial"/>
              </a:rPr>
              <a:t> </a:t>
            </a:r>
            <a:r>
              <a:rPr dirty="0"/>
              <a:t>on</a:t>
            </a:r>
            <a:r>
              <a:rPr spc="80" dirty="0"/>
              <a:t> </a:t>
            </a:r>
            <a:r>
              <a:rPr dirty="0"/>
              <a:t>Polynomial</a:t>
            </a:r>
            <a:r>
              <a:rPr spc="80" dirty="0"/>
              <a:t> </a:t>
            </a:r>
            <a:r>
              <a:rPr spc="-25" dirty="0"/>
              <a:t>Fit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8695" y="2344509"/>
            <a:ext cx="9486900" cy="657165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80603" y="7434542"/>
            <a:ext cx="5505450" cy="722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50" spc="80" dirty="0">
                <a:solidFill>
                  <a:srgbClr val="332C2C"/>
                </a:solidFill>
                <a:latin typeface="Cambria"/>
                <a:cs typeface="Cambria"/>
              </a:rPr>
              <a:t>But..</a:t>
            </a:r>
            <a:r>
              <a:rPr sz="45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spc="9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4550" spc="-204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45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45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spc="325" dirty="0">
                <a:solidFill>
                  <a:srgbClr val="332C2C"/>
                </a:solidFill>
                <a:latin typeface="Cambria"/>
                <a:cs typeface="Cambria"/>
              </a:rPr>
              <a:t>0</a:t>
            </a:r>
            <a:r>
              <a:rPr sz="4550" spc="55" dirty="0">
                <a:solidFill>
                  <a:srgbClr val="332C2C"/>
                </a:solidFill>
                <a:latin typeface="Cambria"/>
                <a:cs typeface="Cambria"/>
              </a:rPr>
              <a:t> is</a:t>
            </a:r>
            <a:r>
              <a:rPr sz="45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45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550" spc="-10" dirty="0">
                <a:solidFill>
                  <a:srgbClr val="332C2C"/>
                </a:solidFill>
                <a:latin typeface="Cambria"/>
                <a:cs typeface="Cambria"/>
              </a:rPr>
              <a:t>best?</a:t>
            </a:r>
            <a:endParaRPr sz="4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49999"/>
                  </a:lnTo>
                  <a:lnTo>
                    <a:pt x="18287988" y="4999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13291" y="2778607"/>
            <a:ext cx="23812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spc="-225" dirty="0">
                <a:solidFill>
                  <a:srgbClr val="332C2C"/>
                </a:solidFill>
                <a:latin typeface="Cambria"/>
                <a:cs typeface="Cambria"/>
              </a:rPr>
              <a:t>1.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5685" y="2778607"/>
            <a:ext cx="53905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7000" algn="l"/>
              </a:tabLst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target</a:t>
            </a:r>
            <a:r>
              <a:rPr sz="2850" spc="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95" dirty="0">
                <a:solidFill>
                  <a:srgbClr val="332C2C"/>
                </a:solidFill>
                <a:latin typeface="Cambria"/>
                <a:cs typeface="Cambria"/>
              </a:rPr>
              <a:t>sin(5</a:t>
            </a:r>
            <a:r>
              <a:rPr sz="2850" spc="-95" dirty="0">
                <a:solidFill>
                  <a:srgbClr val="332C2C"/>
                </a:solidFill>
                <a:latin typeface="Arial"/>
                <a:cs typeface="Arial"/>
              </a:rPr>
              <a:t>π</a:t>
            </a:r>
            <a:r>
              <a:rPr sz="2850" spc="-95" dirty="0">
                <a:solidFill>
                  <a:srgbClr val="332C2C"/>
                </a:solidFill>
                <a:latin typeface="Cambria"/>
                <a:cs typeface="Cambria"/>
              </a:rPr>
              <a:t>x)</a:t>
            </a:r>
            <a:r>
              <a:rPr sz="2850" spc="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50" dirty="0">
                <a:solidFill>
                  <a:srgbClr val="332C2C"/>
                </a:solidFill>
                <a:latin typeface="Cambria"/>
                <a:cs typeface="Cambria"/>
              </a:rPr>
              <a:t>+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850" spc="10" dirty="0">
                <a:solidFill>
                  <a:srgbClr val="332C2C"/>
                </a:solidFill>
                <a:latin typeface="Arial"/>
                <a:cs typeface="Arial"/>
              </a:rPr>
              <a:t>ε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Does</a:t>
            </a:r>
            <a:r>
              <a:rPr spc="25" dirty="0"/>
              <a:t> </a:t>
            </a:r>
            <a:r>
              <a:rPr spc="85" dirty="0">
                <a:latin typeface="Arial"/>
                <a:cs typeface="Arial"/>
              </a:rPr>
              <a:t>λ</a:t>
            </a:r>
            <a:r>
              <a:rPr spc="-315" dirty="0">
                <a:latin typeface="Arial"/>
                <a:cs typeface="Arial"/>
              </a:rPr>
              <a:t> </a:t>
            </a:r>
            <a:r>
              <a:rPr dirty="0"/>
              <a:t>=</a:t>
            </a:r>
            <a:r>
              <a:rPr spc="30" dirty="0"/>
              <a:t> </a:t>
            </a:r>
            <a:r>
              <a:rPr spc="420" dirty="0"/>
              <a:t>0</a:t>
            </a:r>
            <a:r>
              <a:rPr spc="25" dirty="0"/>
              <a:t> </a:t>
            </a:r>
            <a:r>
              <a:rPr dirty="0"/>
              <a:t>Look</a:t>
            </a:r>
            <a:r>
              <a:rPr spc="25" dirty="0"/>
              <a:t> </a:t>
            </a:r>
            <a:r>
              <a:rPr dirty="0"/>
              <a:t>Like</a:t>
            </a:r>
            <a:r>
              <a:rPr spc="3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55" dirty="0"/>
              <a:t>Best</a:t>
            </a:r>
            <a:r>
              <a:rPr spc="25" dirty="0"/>
              <a:t> </a:t>
            </a:r>
            <a:r>
              <a:rPr spc="-10" dirty="0"/>
              <a:t>Model?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8695" y="2344509"/>
            <a:ext cx="9486900" cy="657165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9146" y="3216757"/>
            <a:ext cx="7229475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0" indent="-719455">
              <a:lnSpc>
                <a:spcPts val="3400"/>
              </a:lnSpc>
              <a:spcBef>
                <a:spcPts val="100"/>
              </a:spcBef>
              <a:buAutoNum type="arabicPeriod" startAt="2"/>
              <a:tabLst>
                <a:tab pos="736600" algn="l"/>
              </a:tabLst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matches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sinusoidal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pattern</a:t>
            </a:r>
            <a:endParaRPr sz="2850">
              <a:latin typeface="Cambria"/>
              <a:cs typeface="Cambria"/>
            </a:endParaRPr>
          </a:p>
          <a:p>
            <a:pPr marL="383540" indent="-370840">
              <a:lnSpc>
                <a:spcPts val="3395"/>
              </a:lnSpc>
              <a:buAutoNum type="arabicPeriod" startAt="2"/>
              <a:tabLst>
                <a:tab pos="383540" algn="l"/>
              </a:tabLst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captures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peaks,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valleys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slope</a:t>
            </a:r>
            <a:endParaRPr sz="2850">
              <a:latin typeface="Cambria"/>
              <a:cs typeface="Cambria"/>
            </a:endParaRPr>
          </a:p>
          <a:p>
            <a:pPr marR="50800" algn="ctr">
              <a:lnSpc>
                <a:spcPct val="100000"/>
              </a:lnSpc>
              <a:spcBef>
                <a:spcPts val="1980"/>
              </a:spcBef>
            </a:pPr>
            <a:r>
              <a:rPr sz="4100" spc="80" dirty="0">
                <a:solidFill>
                  <a:srgbClr val="332C2C"/>
                </a:solidFill>
                <a:latin typeface="Cambria"/>
                <a:cs typeface="Cambria"/>
              </a:rPr>
              <a:t>Higher</a:t>
            </a:r>
            <a:r>
              <a:rPr sz="410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4100" spc="8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4100" spc="-20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4100" spc="-10" dirty="0">
                <a:solidFill>
                  <a:srgbClr val="332C2C"/>
                </a:solidFill>
                <a:latin typeface="Cambria"/>
                <a:cs typeface="Cambria"/>
              </a:rPr>
              <a:t>would..</a:t>
            </a:r>
            <a:endParaRPr sz="41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146" y="5370207"/>
            <a:ext cx="302260" cy="132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2850" spc="-225" dirty="0">
                <a:solidFill>
                  <a:srgbClr val="332C2C"/>
                </a:solidFill>
                <a:latin typeface="Cambria"/>
                <a:cs typeface="Cambria"/>
              </a:rPr>
              <a:t>1.</a:t>
            </a:r>
            <a:endParaRPr sz="2850">
              <a:latin typeface="Cambria"/>
              <a:cs typeface="Cambria"/>
            </a:endParaRPr>
          </a:p>
          <a:p>
            <a:pPr marL="17145">
              <a:lnSpc>
                <a:spcPts val="3400"/>
              </a:lnSpc>
              <a:spcBef>
                <a:spcPts val="30"/>
              </a:spcBef>
            </a:pP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2.</a:t>
            </a:r>
            <a:endParaRPr sz="2850">
              <a:latin typeface="Cambria"/>
              <a:cs typeface="Cambria"/>
            </a:endParaRPr>
          </a:p>
          <a:p>
            <a:pPr marL="12700">
              <a:lnSpc>
                <a:spcPts val="3395"/>
              </a:lnSpc>
            </a:pP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3.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73719" y="5370207"/>
            <a:ext cx="4953000" cy="1326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99800"/>
              </a:lnSpc>
              <a:spcBef>
                <a:spcPts val="10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Force</a:t>
            </a:r>
            <a:r>
              <a:rPr sz="2850" spc="-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smoother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Reduces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required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curveness Underfitting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1634" y="7307224"/>
            <a:ext cx="7203440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99"/>
              </a:lnSpc>
              <a:spcBef>
                <a:spcPts val="9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Because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underlying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contains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real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oscillations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noise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limited,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flexible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50" dirty="0">
                <a:solidFill>
                  <a:srgbClr val="332C2C"/>
                </a:solidFill>
                <a:latin typeface="Cambria"/>
                <a:cs typeface="Cambria"/>
              </a:rPr>
              <a:t>(</a:t>
            </a:r>
            <a:r>
              <a:rPr sz="2850" spc="-150" dirty="0">
                <a:solidFill>
                  <a:srgbClr val="332C2C"/>
                </a:solidFill>
                <a:latin typeface="Arial"/>
                <a:cs typeface="Arial"/>
              </a:rPr>
              <a:t>λ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0)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achieves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best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generalization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this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specific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problem.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95" dirty="0"/>
              <a:t>Selecting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55" dirty="0"/>
              <a:t>Best </a:t>
            </a:r>
            <a:r>
              <a:rPr spc="85" dirty="0">
                <a:latin typeface="Arial"/>
                <a:cs typeface="Arial"/>
              </a:rPr>
              <a:t>λ</a:t>
            </a:r>
            <a:r>
              <a:rPr spc="-290" dirty="0">
                <a:latin typeface="Arial"/>
                <a:cs typeface="Arial"/>
              </a:rPr>
              <a:t> </a:t>
            </a:r>
            <a:r>
              <a:rPr spc="125" dirty="0"/>
              <a:t>Using</a:t>
            </a:r>
            <a:r>
              <a:rPr spc="55" dirty="0"/>
              <a:t> </a:t>
            </a:r>
            <a:r>
              <a:rPr dirty="0"/>
              <a:t>Test</a:t>
            </a:r>
            <a:r>
              <a:rPr spc="50" dirty="0"/>
              <a:t> </a:t>
            </a:r>
            <a:r>
              <a:rPr spc="-10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38930" y="3318434"/>
            <a:ext cx="7642859" cy="3513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550" spc="90" dirty="0">
                <a:latin typeface="Arial"/>
                <a:cs typeface="Arial"/>
              </a:rPr>
              <a:t>λ</a:t>
            </a:r>
            <a:r>
              <a:rPr sz="4550" spc="-240" dirty="0">
                <a:latin typeface="Arial"/>
                <a:cs typeface="Arial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spc="325" dirty="0">
                <a:latin typeface="Cambria"/>
                <a:cs typeface="Cambria"/>
              </a:rPr>
              <a:t>0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-685" dirty="0">
                <a:latin typeface="Lucida Sans Unicode"/>
                <a:cs typeface="Lucida Sans Unicode"/>
              </a:rPr>
              <a:t>→</a:t>
            </a:r>
            <a:r>
              <a:rPr sz="4550" spc="-405" dirty="0">
                <a:latin typeface="Lucida Sans Unicode"/>
                <a:cs typeface="Lucida Sans Unicode"/>
              </a:rPr>
              <a:t> </a:t>
            </a:r>
            <a:r>
              <a:rPr sz="4550" dirty="0">
                <a:latin typeface="Cambria"/>
                <a:cs typeface="Cambria"/>
              </a:rPr>
              <a:t>Test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spc="200" dirty="0">
                <a:latin typeface="Cambria"/>
                <a:cs typeface="Cambria"/>
              </a:rPr>
              <a:t>MSE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-10" dirty="0">
                <a:latin typeface="Cambria"/>
                <a:cs typeface="Cambria"/>
              </a:rPr>
              <a:t>0.02387</a:t>
            </a:r>
            <a:endParaRPr sz="45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4550" spc="90" dirty="0">
                <a:latin typeface="Arial"/>
                <a:cs typeface="Arial"/>
              </a:rPr>
              <a:t>λ</a:t>
            </a:r>
            <a:r>
              <a:rPr sz="4550" spc="-295" dirty="0">
                <a:latin typeface="Arial"/>
                <a:cs typeface="Arial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5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0.01</a:t>
            </a:r>
            <a:r>
              <a:rPr sz="4550" spc="15" dirty="0">
                <a:latin typeface="Cambria"/>
                <a:cs typeface="Cambria"/>
              </a:rPr>
              <a:t> </a:t>
            </a:r>
            <a:r>
              <a:rPr sz="4550" spc="-685" dirty="0">
                <a:latin typeface="Lucida Sans Unicode"/>
                <a:cs typeface="Lucida Sans Unicode"/>
              </a:rPr>
              <a:t>→</a:t>
            </a:r>
            <a:r>
              <a:rPr sz="4550" spc="-415" dirty="0">
                <a:latin typeface="Lucida Sans Unicode"/>
                <a:cs typeface="Lucida Sans Unicode"/>
              </a:rPr>
              <a:t> </a:t>
            </a:r>
            <a:r>
              <a:rPr sz="4550" dirty="0">
                <a:latin typeface="Cambria"/>
                <a:cs typeface="Cambria"/>
              </a:rPr>
              <a:t>Test</a:t>
            </a:r>
            <a:r>
              <a:rPr sz="4550" spc="5" dirty="0">
                <a:latin typeface="Cambria"/>
                <a:cs typeface="Cambria"/>
              </a:rPr>
              <a:t> </a:t>
            </a:r>
            <a:r>
              <a:rPr sz="4550" spc="200" dirty="0">
                <a:latin typeface="Cambria"/>
                <a:cs typeface="Cambria"/>
              </a:rPr>
              <a:t>MSE</a:t>
            </a:r>
            <a:r>
              <a:rPr sz="4550" spc="5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10" dirty="0">
                <a:latin typeface="Cambria"/>
                <a:cs typeface="Cambria"/>
              </a:rPr>
              <a:t> </a:t>
            </a:r>
            <a:r>
              <a:rPr sz="4550" spc="-25" dirty="0">
                <a:latin typeface="Cambria"/>
                <a:cs typeface="Cambria"/>
              </a:rPr>
              <a:t>0.37589</a:t>
            </a:r>
            <a:endParaRPr sz="45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4550" spc="90" dirty="0">
                <a:latin typeface="Arial"/>
                <a:cs typeface="Arial"/>
              </a:rPr>
              <a:t>λ</a:t>
            </a:r>
            <a:r>
              <a:rPr sz="4550" spc="-270" dirty="0">
                <a:latin typeface="Arial"/>
                <a:cs typeface="Arial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20" dirty="0">
                <a:latin typeface="Cambria"/>
                <a:cs typeface="Cambria"/>
              </a:rPr>
              <a:t> </a:t>
            </a:r>
            <a:r>
              <a:rPr sz="4550" spc="-125" dirty="0">
                <a:latin typeface="Cambria"/>
                <a:cs typeface="Cambria"/>
              </a:rPr>
              <a:t>0.1</a:t>
            </a:r>
            <a:r>
              <a:rPr sz="4550" spc="15" dirty="0">
                <a:latin typeface="Cambria"/>
                <a:cs typeface="Cambria"/>
              </a:rPr>
              <a:t> </a:t>
            </a:r>
            <a:r>
              <a:rPr sz="4550" spc="-685" dirty="0">
                <a:latin typeface="Lucida Sans Unicode"/>
                <a:cs typeface="Lucida Sans Unicode"/>
              </a:rPr>
              <a:t>→</a:t>
            </a:r>
            <a:r>
              <a:rPr sz="4550" spc="-415" dirty="0">
                <a:latin typeface="Lucida Sans Unicode"/>
                <a:cs typeface="Lucida Sans Unicode"/>
              </a:rPr>
              <a:t> </a:t>
            </a:r>
            <a:r>
              <a:rPr sz="4550" dirty="0">
                <a:latin typeface="Cambria"/>
                <a:cs typeface="Cambria"/>
              </a:rPr>
              <a:t>Test</a:t>
            </a:r>
            <a:r>
              <a:rPr sz="4550" spc="15" dirty="0">
                <a:latin typeface="Cambria"/>
                <a:cs typeface="Cambria"/>
              </a:rPr>
              <a:t> </a:t>
            </a:r>
            <a:r>
              <a:rPr sz="4550" spc="200" dirty="0">
                <a:latin typeface="Cambria"/>
                <a:cs typeface="Cambria"/>
              </a:rPr>
              <a:t>MSE</a:t>
            </a:r>
            <a:r>
              <a:rPr sz="4550" spc="15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15" dirty="0">
                <a:latin typeface="Cambria"/>
                <a:cs typeface="Cambria"/>
              </a:rPr>
              <a:t> </a:t>
            </a:r>
            <a:r>
              <a:rPr sz="4550" spc="-50" dirty="0">
                <a:latin typeface="Cambria"/>
                <a:cs typeface="Cambria"/>
              </a:rPr>
              <a:t>0.37851</a:t>
            </a:r>
            <a:endParaRPr sz="45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4550" spc="90" dirty="0">
                <a:latin typeface="Arial"/>
                <a:cs typeface="Arial"/>
              </a:rPr>
              <a:t>λ</a:t>
            </a:r>
            <a:r>
              <a:rPr sz="4550" spc="-229" dirty="0">
                <a:latin typeface="Arial"/>
                <a:cs typeface="Arial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-885" dirty="0">
                <a:latin typeface="Cambria"/>
                <a:cs typeface="Cambria"/>
              </a:rPr>
              <a:t>1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spc="-685" dirty="0">
                <a:latin typeface="Lucida Sans Unicode"/>
                <a:cs typeface="Lucida Sans Unicode"/>
              </a:rPr>
              <a:t>→</a:t>
            </a:r>
            <a:r>
              <a:rPr sz="4550" spc="-405" dirty="0">
                <a:latin typeface="Lucida Sans Unicode"/>
                <a:cs typeface="Lucida Sans Unicode"/>
              </a:rPr>
              <a:t> </a:t>
            </a:r>
            <a:r>
              <a:rPr sz="4550" dirty="0">
                <a:latin typeface="Cambria"/>
                <a:cs typeface="Cambria"/>
              </a:rPr>
              <a:t>Test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spc="200" dirty="0">
                <a:latin typeface="Cambria"/>
                <a:cs typeface="Cambria"/>
              </a:rPr>
              <a:t>MSE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spc="-310" dirty="0">
                <a:latin typeface="Cambria"/>
                <a:cs typeface="Cambria"/>
              </a:rPr>
              <a:t>0.34171</a:t>
            </a:r>
            <a:endParaRPr sz="45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4550" spc="90" dirty="0">
                <a:latin typeface="Arial"/>
                <a:cs typeface="Arial"/>
              </a:rPr>
              <a:t>λ</a:t>
            </a:r>
            <a:r>
              <a:rPr sz="4550" spc="-240" dirty="0">
                <a:latin typeface="Arial"/>
                <a:cs typeface="Arial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-280" dirty="0">
                <a:latin typeface="Cambria"/>
                <a:cs typeface="Cambria"/>
              </a:rPr>
              <a:t>10</a:t>
            </a:r>
            <a:r>
              <a:rPr sz="4550" spc="30" dirty="0">
                <a:latin typeface="Cambria"/>
                <a:cs typeface="Cambria"/>
              </a:rPr>
              <a:t> </a:t>
            </a:r>
            <a:r>
              <a:rPr sz="4550" spc="-685" dirty="0">
                <a:latin typeface="Lucida Sans Unicode"/>
                <a:cs typeface="Lucida Sans Unicode"/>
              </a:rPr>
              <a:t>→</a:t>
            </a:r>
            <a:r>
              <a:rPr sz="4550" spc="-405" dirty="0">
                <a:latin typeface="Lucida Sans Unicode"/>
                <a:cs typeface="Lucida Sans Unicode"/>
              </a:rPr>
              <a:t> </a:t>
            </a:r>
            <a:r>
              <a:rPr sz="4550" dirty="0">
                <a:latin typeface="Cambria"/>
                <a:cs typeface="Cambria"/>
              </a:rPr>
              <a:t>Test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200" dirty="0">
                <a:latin typeface="Cambria"/>
                <a:cs typeface="Cambria"/>
              </a:rPr>
              <a:t>MSE</a:t>
            </a:r>
            <a:r>
              <a:rPr sz="4550" spc="35" dirty="0">
                <a:latin typeface="Cambria"/>
                <a:cs typeface="Cambria"/>
              </a:rPr>
              <a:t> </a:t>
            </a:r>
            <a:r>
              <a:rPr sz="4550" dirty="0">
                <a:latin typeface="Cambria"/>
                <a:cs typeface="Cambria"/>
              </a:rPr>
              <a:t>=</a:t>
            </a:r>
            <a:r>
              <a:rPr sz="4550" spc="40" dirty="0">
                <a:latin typeface="Cambria"/>
                <a:cs typeface="Cambria"/>
              </a:rPr>
              <a:t> </a:t>
            </a:r>
            <a:r>
              <a:rPr sz="4550" spc="-10" dirty="0">
                <a:latin typeface="Cambria"/>
                <a:cs typeface="Cambria"/>
              </a:rPr>
              <a:t>0.32244</a:t>
            </a:r>
            <a:endParaRPr sz="45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7277" y="5083988"/>
            <a:ext cx="7839709" cy="2837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52169" indent="-770890">
              <a:lnSpc>
                <a:spcPct val="100000"/>
              </a:lnSpc>
              <a:spcBef>
                <a:spcPts val="125"/>
              </a:spcBef>
              <a:buFont typeface="Cambria"/>
              <a:buAutoNum type="arabicPeriod"/>
              <a:tabLst>
                <a:tab pos="852169" algn="l"/>
              </a:tabLst>
            </a:pPr>
            <a:r>
              <a:rPr sz="3050" spc="6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3050" spc="-185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30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215" dirty="0">
                <a:solidFill>
                  <a:srgbClr val="332C2C"/>
                </a:solidFill>
                <a:latin typeface="Cambria"/>
                <a:cs typeface="Cambria"/>
              </a:rPr>
              <a:t>0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 achieves</a:t>
            </a:r>
            <a:r>
              <a:rPr sz="30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30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lowest </a:t>
            </a:r>
            <a:r>
              <a:rPr sz="3050" spc="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 error</a:t>
            </a:r>
            <a:r>
              <a:rPr sz="30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by</a:t>
            </a:r>
            <a:r>
              <a:rPr sz="30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endParaRPr sz="3050">
              <a:latin typeface="Cambria"/>
              <a:cs typeface="Cambria"/>
            </a:endParaRPr>
          </a:p>
          <a:p>
            <a:pPr marL="3037205">
              <a:lnSpc>
                <a:spcPct val="100000"/>
              </a:lnSpc>
              <a:spcBef>
                <a:spcPts val="90"/>
              </a:spcBef>
            </a:pP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large</a:t>
            </a:r>
            <a:r>
              <a:rPr sz="3050" spc="2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35" dirty="0">
                <a:solidFill>
                  <a:srgbClr val="332C2C"/>
                </a:solidFill>
                <a:latin typeface="Cambria"/>
                <a:cs typeface="Cambria"/>
              </a:rPr>
              <a:t>margin.</a:t>
            </a:r>
            <a:endParaRPr sz="3050">
              <a:latin typeface="Cambria"/>
              <a:cs typeface="Cambria"/>
            </a:endParaRPr>
          </a:p>
          <a:p>
            <a:pPr marL="1120140" marR="605790" indent="-1102360">
              <a:lnSpc>
                <a:spcPct val="100400"/>
              </a:lnSpc>
              <a:buAutoNum type="arabicPeriod" startAt="2"/>
              <a:tabLst>
                <a:tab pos="2058670" algn="l"/>
              </a:tabLst>
            </a:pP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3050" spc="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highly</a:t>
            </a:r>
            <a:r>
              <a:rPr sz="30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curved</a:t>
            </a:r>
            <a:r>
              <a:rPr sz="30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nature</a:t>
            </a:r>
            <a:r>
              <a:rPr sz="30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of</a:t>
            </a:r>
            <a:r>
              <a:rPr sz="30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75" dirty="0">
                <a:solidFill>
                  <a:srgbClr val="332C2C"/>
                </a:solidFill>
                <a:latin typeface="Cambria"/>
                <a:cs typeface="Cambria"/>
              </a:rPr>
              <a:t>sin(5</a:t>
            </a:r>
            <a:r>
              <a:rPr sz="3050" spc="-75" dirty="0">
                <a:solidFill>
                  <a:srgbClr val="332C2C"/>
                </a:solidFill>
                <a:latin typeface="Arial"/>
                <a:cs typeface="Arial"/>
              </a:rPr>
              <a:t>π</a:t>
            </a:r>
            <a:r>
              <a:rPr sz="3050" spc="-75" dirty="0">
                <a:solidFill>
                  <a:srgbClr val="332C2C"/>
                </a:solidFill>
                <a:latin typeface="Cambria"/>
                <a:cs typeface="Cambria"/>
              </a:rPr>
              <a:t>x) 	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requires</a:t>
            </a:r>
            <a:r>
              <a:rPr sz="30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30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flexible</a:t>
            </a:r>
            <a:r>
              <a:rPr sz="30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10" dirty="0">
                <a:solidFill>
                  <a:srgbClr val="332C2C"/>
                </a:solidFill>
                <a:latin typeface="Cambria"/>
                <a:cs typeface="Cambria"/>
              </a:rPr>
              <a:t>model.</a:t>
            </a:r>
            <a:endParaRPr sz="3050">
              <a:latin typeface="Cambria"/>
              <a:cs typeface="Cambria"/>
            </a:endParaRPr>
          </a:p>
          <a:p>
            <a:pPr marL="693420" indent="-680720">
              <a:lnSpc>
                <a:spcPct val="100000"/>
              </a:lnSpc>
              <a:spcBef>
                <a:spcPts val="15"/>
              </a:spcBef>
              <a:buAutoNum type="arabicPeriod" startAt="2"/>
              <a:tabLst>
                <a:tab pos="693420" algn="l"/>
              </a:tabLst>
            </a:pP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30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noise</a:t>
            </a:r>
            <a:r>
              <a:rPr sz="30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level</a:t>
            </a:r>
            <a:r>
              <a:rPr sz="30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30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30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small</a:t>
            </a:r>
            <a:r>
              <a:rPr sz="30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30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justify</a:t>
            </a:r>
            <a:r>
              <a:rPr sz="30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10" dirty="0">
                <a:solidFill>
                  <a:srgbClr val="332C2C"/>
                </a:solidFill>
                <a:latin typeface="Cambria"/>
                <a:cs typeface="Cambria"/>
              </a:rPr>
              <a:t>heavy</a:t>
            </a:r>
            <a:endParaRPr sz="3050">
              <a:latin typeface="Cambria"/>
              <a:cs typeface="Cambria"/>
            </a:endParaRPr>
          </a:p>
          <a:p>
            <a:pPr marL="2920365">
              <a:lnSpc>
                <a:spcPct val="100000"/>
              </a:lnSpc>
              <a:spcBef>
                <a:spcPts val="15"/>
              </a:spcBef>
            </a:pPr>
            <a:r>
              <a:rPr sz="3050" spc="-10" dirty="0">
                <a:solidFill>
                  <a:srgbClr val="332C2C"/>
                </a:solidFill>
                <a:latin typeface="Cambria"/>
                <a:cs typeface="Cambria"/>
              </a:rPr>
              <a:t>regularization.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7498" y="2865539"/>
            <a:ext cx="7729220" cy="970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best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lambda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based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on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performance</a:t>
            </a:r>
            <a:r>
              <a:rPr sz="305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25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endParaRPr sz="3050">
              <a:latin typeface="Cambria"/>
              <a:cs typeface="Cambria"/>
            </a:endParaRPr>
          </a:p>
          <a:p>
            <a:pPr marL="86995" algn="ctr">
              <a:lnSpc>
                <a:spcPct val="100000"/>
              </a:lnSpc>
              <a:spcBef>
                <a:spcPts val="90"/>
              </a:spcBef>
            </a:pPr>
            <a:r>
              <a:rPr sz="3050" spc="6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3050" spc="-145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30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120" dirty="0">
                <a:solidFill>
                  <a:srgbClr val="332C2C"/>
                </a:solidFill>
                <a:latin typeface="Cambria"/>
                <a:cs typeface="Cambria"/>
              </a:rPr>
              <a:t>0,</a:t>
            </a:r>
            <a:r>
              <a:rPr sz="30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with</a:t>
            </a:r>
            <a:r>
              <a:rPr sz="30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30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30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135" dirty="0">
                <a:solidFill>
                  <a:srgbClr val="332C2C"/>
                </a:solidFill>
                <a:latin typeface="Cambria"/>
                <a:cs typeface="Cambria"/>
              </a:rPr>
              <a:t>MSE</a:t>
            </a:r>
            <a:r>
              <a:rPr sz="30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dirty="0">
                <a:solidFill>
                  <a:srgbClr val="332C2C"/>
                </a:solidFill>
                <a:latin typeface="Cambria"/>
                <a:cs typeface="Cambria"/>
              </a:rPr>
              <a:t>of</a:t>
            </a:r>
            <a:r>
              <a:rPr sz="30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3050" spc="-10" dirty="0">
                <a:solidFill>
                  <a:srgbClr val="332C2C"/>
                </a:solidFill>
                <a:latin typeface="Cambria"/>
                <a:cs typeface="Cambria"/>
              </a:rPr>
              <a:t>0.02387.</a:t>
            </a:r>
            <a:endParaRPr sz="3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2034" y="1926269"/>
            <a:ext cx="10189845" cy="3959860"/>
          </a:xfrm>
          <a:prstGeom prst="rect">
            <a:avLst/>
          </a:prstGeom>
        </p:spPr>
        <p:txBody>
          <a:bodyPr vert="horz" wrap="square" lIns="0" tIns="360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35"/>
              </a:spcBef>
            </a:pPr>
            <a:r>
              <a:rPr sz="13950" spc="200" dirty="0"/>
              <a:t>02</a:t>
            </a:r>
            <a:endParaRPr sz="13950"/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8250" dirty="0"/>
              <a:t>Non-linear</a:t>
            </a:r>
            <a:r>
              <a:rPr sz="8250" spc="300" dirty="0"/>
              <a:t> </a:t>
            </a:r>
            <a:r>
              <a:rPr sz="8250" spc="40" dirty="0"/>
              <a:t>Regression</a:t>
            </a:r>
            <a:endParaRPr sz="8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1995" y="6429057"/>
            <a:ext cx="4949609" cy="6550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9753003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87988" y="50012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7050"/>
              </a:lnSpc>
              <a:spcBef>
                <a:spcPts val="235"/>
              </a:spcBef>
            </a:pPr>
            <a:r>
              <a:rPr dirty="0"/>
              <a:t>RBF</a:t>
            </a:r>
            <a:r>
              <a:rPr spc="185" dirty="0"/>
              <a:t> </a:t>
            </a:r>
            <a:r>
              <a:rPr dirty="0"/>
              <a:t>Regression</a:t>
            </a:r>
            <a:r>
              <a:rPr spc="185" dirty="0"/>
              <a:t> </a:t>
            </a:r>
            <a:r>
              <a:rPr dirty="0"/>
              <a:t>Results</a:t>
            </a:r>
            <a:r>
              <a:rPr spc="190" dirty="0"/>
              <a:t> </a:t>
            </a:r>
            <a:r>
              <a:rPr dirty="0"/>
              <a:t>for</a:t>
            </a:r>
            <a:r>
              <a:rPr spc="185" dirty="0"/>
              <a:t> </a:t>
            </a:r>
            <a:r>
              <a:rPr spc="60" dirty="0"/>
              <a:t>Different</a:t>
            </a:r>
            <a:r>
              <a:rPr spc="185" dirty="0"/>
              <a:t> </a:t>
            </a:r>
            <a:r>
              <a:rPr spc="-10" dirty="0"/>
              <a:t>Numbers </a:t>
            </a:r>
            <a:r>
              <a:rPr dirty="0"/>
              <a:t>of</a:t>
            </a:r>
            <a:r>
              <a:rPr spc="80" dirty="0"/>
              <a:t> </a:t>
            </a:r>
            <a:r>
              <a:rPr spc="50" dirty="0"/>
              <a:t>Basis</a:t>
            </a:r>
            <a:r>
              <a:rPr spc="85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8562" y="2583256"/>
            <a:ext cx="9143987" cy="57626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66978" y="587526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909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909" y="114300"/>
                </a:lnTo>
                <a:lnTo>
                  <a:pt x="100215" y="94907"/>
                </a:lnTo>
                <a:lnTo>
                  <a:pt x="114300" y="60896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6978" y="674203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909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909" y="114300"/>
                </a:lnTo>
                <a:lnTo>
                  <a:pt x="100215" y="94907"/>
                </a:lnTo>
                <a:lnTo>
                  <a:pt x="114300" y="60896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6978" y="761833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909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909" y="114300"/>
                </a:lnTo>
                <a:lnTo>
                  <a:pt x="100215" y="94907"/>
                </a:lnTo>
                <a:lnTo>
                  <a:pt x="114300" y="60896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4797" y="2883967"/>
            <a:ext cx="7609840" cy="585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202565" algn="ctr">
              <a:lnSpc>
                <a:spcPct val="100099"/>
              </a:lnSpc>
              <a:spcBef>
                <a:spcPts val="95"/>
              </a:spcBef>
            </a:pPr>
            <a:r>
              <a:rPr sz="2850" spc="160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555" dirty="0">
                <a:solidFill>
                  <a:srgbClr val="332C2C"/>
                </a:solidFill>
                <a:latin typeface="Cambria"/>
                <a:cs typeface="Cambria"/>
              </a:rPr>
              <a:t>1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restrictive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cannot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reproduce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more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than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single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broad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shape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so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it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completely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misses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oscillatory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nature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of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the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data.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2850">
              <a:latin typeface="Cambria"/>
              <a:cs typeface="Cambria"/>
            </a:endParaRPr>
          </a:p>
          <a:p>
            <a:pPr marL="282575" algn="ctr">
              <a:lnSpc>
                <a:spcPct val="100000"/>
              </a:lnSpc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7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0.01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sharp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localized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peak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at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center.</a:t>
            </a:r>
            <a:endParaRPr sz="2850">
              <a:latin typeface="Cambria"/>
              <a:cs typeface="Cambria"/>
            </a:endParaRPr>
          </a:p>
          <a:p>
            <a:pPr marL="282575" algn="ctr">
              <a:lnSpc>
                <a:spcPts val="3400"/>
              </a:lnSpc>
              <a:spcBef>
                <a:spcPts val="3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Underfits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as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being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localized.</a:t>
            </a:r>
            <a:endParaRPr sz="2850">
              <a:latin typeface="Cambria"/>
              <a:cs typeface="Cambria"/>
            </a:endParaRPr>
          </a:p>
          <a:p>
            <a:pPr marL="282575" algn="ctr">
              <a:lnSpc>
                <a:spcPts val="3395"/>
              </a:lnSpc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4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555" dirty="0">
                <a:solidFill>
                  <a:srgbClr val="332C2C"/>
                </a:solidFill>
                <a:latin typeface="Cambria"/>
                <a:cs typeface="Cambria"/>
              </a:rPr>
              <a:t>1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becomes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very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broad.</a:t>
            </a:r>
            <a:endParaRPr sz="2850">
              <a:latin typeface="Cambria"/>
              <a:cs typeface="Cambria"/>
            </a:endParaRPr>
          </a:p>
          <a:p>
            <a:pPr marL="281940" algn="ctr">
              <a:lnSpc>
                <a:spcPct val="100000"/>
              </a:lnSpc>
              <a:spcBef>
                <a:spcPts val="3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Underfits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as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being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diffuse.</a:t>
            </a:r>
            <a:endParaRPr sz="2850">
              <a:latin typeface="Cambria"/>
              <a:cs typeface="Cambria"/>
            </a:endParaRPr>
          </a:p>
          <a:p>
            <a:pPr marL="427355" marR="137160" algn="ctr">
              <a:lnSpc>
                <a:spcPct val="99800"/>
              </a:lnSpc>
              <a:spcBef>
                <a:spcPts val="40"/>
              </a:spcBef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2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affects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how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local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or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global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single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(M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80" dirty="0">
                <a:solidFill>
                  <a:srgbClr val="332C2C"/>
                </a:solidFill>
                <a:latin typeface="Cambria"/>
                <a:cs typeface="Cambria"/>
              </a:rPr>
              <a:t>1)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 basis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is,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both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result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in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underfitting.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87988" y="50012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7050"/>
              </a:lnSpc>
              <a:spcBef>
                <a:spcPts val="235"/>
              </a:spcBef>
            </a:pPr>
            <a:r>
              <a:rPr dirty="0"/>
              <a:t>RBF</a:t>
            </a:r>
            <a:r>
              <a:rPr spc="185" dirty="0"/>
              <a:t> </a:t>
            </a:r>
            <a:r>
              <a:rPr dirty="0"/>
              <a:t>Regression</a:t>
            </a:r>
            <a:r>
              <a:rPr spc="185" dirty="0"/>
              <a:t> </a:t>
            </a:r>
            <a:r>
              <a:rPr dirty="0"/>
              <a:t>Results</a:t>
            </a:r>
            <a:r>
              <a:rPr spc="190" dirty="0"/>
              <a:t> </a:t>
            </a:r>
            <a:r>
              <a:rPr dirty="0"/>
              <a:t>for</a:t>
            </a:r>
            <a:r>
              <a:rPr spc="185" dirty="0"/>
              <a:t> </a:t>
            </a:r>
            <a:r>
              <a:rPr spc="60" dirty="0"/>
              <a:t>Different</a:t>
            </a:r>
            <a:r>
              <a:rPr spc="185" dirty="0"/>
              <a:t> </a:t>
            </a:r>
            <a:r>
              <a:rPr spc="-10" dirty="0"/>
              <a:t>Numbers </a:t>
            </a:r>
            <a:r>
              <a:rPr dirty="0"/>
              <a:t>of</a:t>
            </a:r>
            <a:r>
              <a:rPr spc="80" dirty="0"/>
              <a:t> </a:t>
            </a:r>
            <a:r>
              <a:rPr spc="50" dirty="0"/>
              <a:t>Basis</a:t>
            </a:r>
            <a:r>
              <a:rPr spc="85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4221" y="2625522"/>
            <a:ext cx="9143999" cy="57626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49091" y="3039974"/>
            <a:ext cx="7708265" cy="590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539" marR="244475" algn="ctr">
              <a:lnSpc>
                <a:spcPct val="100099"/>
              </a:lnSpc>
              <a:spcBef>
                <a:spcPts val="95"/>
              </a:spcBef>
            </a:pPr>
            <a:r>
              <a:rPr sz="2850" spc="160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spc="-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5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can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form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several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overlapping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bumps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across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domain,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allowing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follow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the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general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shape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of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true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instead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of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producing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single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narrow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or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flat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curve.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50">
              <a:latin typeface="Cambria"/>
              <a:cs typeface="Cambria"/>
            </a:endParaRPr>
          </a:p>
          <a:p>
            <a:pPr marL="210185" marR="167005" indent="43815" algn="ctr">
              <a:lnSpc>
                <a:spcPct val="99800"/>
              </a:lnSpc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Even with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more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basis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functions,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still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looks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smoother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than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true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because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individual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RBFs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are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not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0" dirty="0">
                <a:solidFill>
                  <a:srgbClr val="332C2C"/>
                </a:solidFill>
                <a:latin typeface="Cambria"/>
                <a:cs typeface="Cambria"/>
              </a:rPr>
              <a:t>very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 sharp.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90"/>
              </a:spcBef>
            </a:pPr>
            <a:endParaRPr sz="2850">
              <a:latin typeface="Cambria"/>
              <a:cs typeface="Cambria"/>
            </a:endParaRPr>
          </a:p>
          <a:p>
            <a:pPr marL="12065" marR="5080" algn="ctr">
              <a:lnSpc>
                <a:spcPct val="99800"/>
              </a:lnSpc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55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10" dirty="0">
                <a:solidFill>
                  <a:srgbClr val="332C2C"/>
                </a:solidFill>
                <a:latin typeface="Cambria"/>
                <a:cs typeface="Cambria"/>
              </a:rPr>
              <a:t>0.125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Creates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wide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RBFs,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which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smooth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out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prevent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from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capturing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fast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oscillations.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50012"/>
                  </a:lnTo>
                  <a:lnTo>
                    <a:pt x="18287988" y="50012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7050"/>
              </a:lnSpc>
              <a:spcBef>
                <a:spcPts val="235"/>
              </a:spcBef>
            </a:pPr>
            <a:r>
              <a:rPr dirty="0"/>
              <a:t>RBF</a:t>
            </a:r>
            <a:r>
              <a:rPr spc="185" dirty="0"/>
              <a:t> </a:t>
            </a:r>
            <a:r>
              <a:rPr dirty="0"/>
              <a:t>Regression</a:t>
            </a:r>
            <a:r>
              <a:rPr spc="185" dirty="0"/>
              <a:t> </a:t>
            </a:r>
            <a:r>
              <a:rPr dirty="0"/>
              <a:t>Results</a:t>
            </a:r>
            <a:r>
              <a:rPr spc="190" dirty="0"/>
              <a:t> </a:t>
            </a:r>
            <a:r>
              <a:rPr dirty="0"/>
              <a:t>for</a:t>
            </a:r>
            <a:r>
              <a:rPr spc="185" dirty="0"/>
              <a:t> </a:t>
            </a:r>
            <a:r>
              <a:rPr spc="60" dirty="0"/>
              <a:t>Different</a:t>
            </a:r>
            <a:r>
              <a:rPr spc="185" dirty="0"/>
              <a:t> </a:t>
            </a:r>
            <a:r>
              <a:rPr spc="-10" dirty="0"/>
              <a:t>Numbers </a:t>
            </a:r>
            <a:r>
              <a:rPr dirty="0"/>
              <a:t>of</a:t>
            </a:r>
            <a:r>
              <a:rPr spc="80" dirty="0"/>
              <a:t> </a:t>
            </a:r>
            <a:r>
              <a:rPr spc="50" dirty="0"/>
              <a:t>Basis</a:t>
            </a:r>
            <a:r>
              <a:rPr spc="85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3477" y="2702344"/>
            <a:ext cx="9143999" cy="57626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30977" y="3638067"/>
            <a:ext cx="7821295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2540" algn="ctr">
              <a:lnSpc>
                <a:spcPct val="100099"/>
              </a:lnSpc>
              <a:spcBef>
                <a:spcPts val="95"/>
              </a:spcBef>
            </a:pPr>
            <a:r>
              <a:rPr sz="2850" spc="160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 =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10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Gives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more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flexibility.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Each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can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create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local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bump,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so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can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now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follow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true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more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closely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capture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finer</a:t>
            </a:r>
            <a:r>
              <a:rPr sz="2850" spc="1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variations.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448" y="6631826"/>
            <a:ext cx="7423150" cy="1326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905" algn="ctr">
              <a:lnSpc>
                <a:spcPct val="99800"/>
              </a:lnSpc>
              <a:spcBef>
                <a:spcPts val="105"/>
              </a:spcBef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5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0.05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Makes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each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narrower,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reducing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smoothing.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This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allows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respond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to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faster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changes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data.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49999"/>
                  </a:lnTo>
                  <a:lnTo>
                    <a:pt x="18287988" y="4999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7050"/>
              </a:lnSpc>
              <a:spcBef>
                <a:spcPts val="235"/>
              </a:spcBef>
            </a:pPr>
            <a:r>
              <a:rPr dirty="0"/>
              <a:t>RBF</a:t>
            </a:r>
            <a:r>
              <a:rPr spc="185" dirty="0"/>
              <a:t> </a:t>
            </a:r>
            <a:r>
              <a:rPr dirty="0"/>
              <a:t>Regression</a:t>
            </a:r>
            <a:r>
              <a:rPr spc="185" dirty="0"/>
              <a:t> </a:t>
            </a:r>
            <a:r>
              <a:rPr dirty="0"/>
              <a:t>Results</a:t>
            </a:r>
            <a:r>
              <a:rPr spc="190" dirty="0"/>
              <a:t> </a:t>
            </a:r>
            <a:r>
              <a:rPr dirty="0"/>
              <a:t>for</a:t>
            </a:r>
            <a:r>
              <a:rPr spc="185" dirty="0"/>
              <a:t> </a:t>
            </a:r>
            <a:r>
              <a:rPr spc="60" dirty="0"/>
              <a:t>Different</a:t>
            </a:r>
            <a:r>
              <a:rPr spc="185" dirty="0"/>
              <a:t> </a:t>
            </a:r>
            <a:r>
              <a:rPr spc="-10" dirty="0"/>
              <a:t>Numbers </a:t>
            </a:r>
            <a:r>
              <a:rPr dirty="0"/>
              <a:t>of</a:t>
            </a:r>
            <a:r>
              <a:rPr spc="80" dirty="0"/>
              <a:t> </a:t>
            </a:r>
            <a:r>
              <a:rPr spc="50" dirty="0"/>
              <a:t>Basis</a:t>
            </a:r>
            <a:r>
              <a:rPr spc="8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46201" y="4086225"/>
            <a:ext cx="3761104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50" spc="160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50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can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now</a:t>
            </a:r>
            <a:r>
              <a:rPr sz="2850" spc="-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follow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true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9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closely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and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capture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finer</a:t>
            </a:r>
            <a:r>
              <a:rPr sz="2850" spc="7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variations,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85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this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caused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overfitting.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959" y="7271905"/>
            <a:ext cx="5245735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99"/>
              </a:lnSpc>
              <a:spcBef>
                <a:spcPts val="95"/>
              </a:spcBef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20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-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0.01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RBFs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are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0" dirty="0">
                <a:solidFill>
                  <a:srgbClr val="332C2C"/>
                </a:solidFill>
                <a:latin typeface="Cambria"/>
                <a:cs typeface="Cambria"/>
              </a:rPr>
              <a:t>very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narrow.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-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overshoots</a:t>
            </a:r>
            <a:r>
              <a:rPr sz="2850" spc="-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drastically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between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points,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showing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extreme overfitting.</a:t>
            </a:r>
            <a:endParaRPr sz="285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561" y="2778188"/>
            <a:ext cx="6496049" cy="39338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0690" y="2778188"/>
            <a:ext cx="6496049" cy="3933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604077" y="7271549"/>
            <a:ext cx="4718685" cy="176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99"/>
              </a:lnSpc>
              <a:spcBef>
                <a:spcPts val="95"/>
              </a:spcBef>
            </a:pPr>
            <a:r>
              <a:rPr sz="2850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65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90" dirty="0">
                <a:solidFill>
                  <a:srgbClr val="332C2C"/>
                </a:solidFill>
                <a:latin typeface="Cambria"/>
                <a:cs typeface="Cambria"/>
              </a:rPr>
              <a:t>0.1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RBFs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are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moderately wide.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-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wiggly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and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overfits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less, with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one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minor undershoot.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2500"/>
            <a:ext cx="18300700" cy="2238375"/>
            <a:chOff x="0" y="-12500"/>
            <a:chExt cx="18300700" cy="2238375"/>
          </a:xfrm>
        </p:grpSpPr>
        <p:sp>
          <p:nvSpPr>
            <p:cNvPr id="3" name="object 3"/>
            <p:cNvSpPr/>
            <p:nvPr/>
          </p:nvSpPr>
          <p:spPr>
            <a:xfrm>
              <a:off x="15536394" y="0"/>
              <a:ext cx="2752090" cy="2213610"/>
            </a:xfrm>
            <a:custGeom>
              <a:avLst/>
              <a:gdLst/>
              <a:ahLst/>
              <a:cxnLst/>
              <a:rect l="l" t="t" r="r" b="b"/>
              <a:pathLst>
                <a:path w="2752090" h="2213610">
                  <a:moveTo>
                    <a:pt x="0" y="0"/>
                  </a:moveTo>
                  <a:lnTo>
                    <a:pt x="41652" y="26298"/>
                  </a:lnTo>
                  <a:lnTo>
                    <a:pt x="80336" y="51922"/>
                  </a:lnTo>
                  <a:lnTo>
                    <a:pt x="118421" y="78265"/>
                  </a:lnTo>
                  <a:lnTo>
                    <a:pt x="155929" y="105301"/>
                  </a:lnTo>
                  <a:lnTo>
                    <a:pt x="192882" y="133005"/>
                  </a:lnTo>
                  <a:lnTo>
                    <a:pt x="229300" y="161350"/>
                  </a:lnTo>
                  <a:lnTo>
                    <a:pt x="265206" y="190311"/>
                  </a:lnTo>
                  <a:lnTo>
                    <a:pt x="300621" y="219862"/>
                  </a:lnTo>
                  <a:lnTo>
                    <a:pt x="335565" y="249978"/>
                  </a:lnTo>
                  <a:lnTo>
                    <a:pt x="370061" y="280633"/>
                  </a:lnTo>
                  <a:lnTo>
                    <a:pt x="404130" y="311801"/>
                  </a:lnTo>
                  <a:lnTo>
                    <a:pt x="437792" y="343457"/>
                  </a:lnTo>
                  <a:lnTo>
                    <a:pt x="471070" y="375575"/>
                  </a:lnTo>
                  <a:lnTo>
                    <a:pt x="503985" y="408130"/>
                  </a:lnTo>
                  <a:lnTo>
                    <a:pt x="536559" y="441095"/>
                  </a:lnTo>
                  <a:lnTo>
                    <a:pt x="568811" y="474445"/>
                  </a:lnTo>
                  <a:lnTo>
                    <a:pt x="600765" y="508154"/>
                  </a:lnTo>
                  <a:lnTo>
                    <a:pt x="632441" y="542197"/>
                  </a:lnTo>
                  <a:lnTo>
                    <a:pt x="663860" y="576549"/>
                  </a:lnTo>
                  <a:lnTo>
                    <a:pt x="695044" y="611182"/>
                  </a:lnTo>
                  <a:lnTo>
                    <a:pt x="726015" y="646072"/>
                  </a:lnTo>
                  <a:lnTo>
                    <a:pt x="756794" y="681193"/>
                  </a:lnTo>
                  <a:lnTo>
                    <a:pt x="787401" y="716520"/>
                  </a:lnTo>
                  <a:lnTo>
                    <a:pt x="817859" y="752026"/>
                  </a:lnTo>
                  <a:lnTo>
                    <a:pt x="848189" y="787686"/>
                  </a:lnTo>
                  <a:lnTo>
                    <a:pt x="878412" y="823474"/>
                  </a:lnTo>
                  <a:lnTo>
                    <a:pt x="908550" y="859365"/>
                  </a:lnTo>
                  <a:lnTo>
                    <a:pt x="938623" y="895334"/>
                  </a:lnTo>
                  <a:lnTo>
                    <a:pt x="968654" y="931353"/>
                  </a:lnTo>
                  <a:lnTo>
                    <a:pt x="998664" y="967398"/>
                  </a:lnTo>
                  <a:lnTo>
                    <a:pt x="1028673" y="1003443"/>
                  </a:lnTo>
                  <a:lnTo>
                    <a:pt x="1058704" y="1039463"/>
                  </a:lnTo>
                  <a:lnTo>
                    <a:pt x="1088777" y="1075431"/>
                  </a:lnTo>
                  <a:lnTo>
                    <a:pt x="1118915" y="1111322"/>
                  </a:lnTo>
                  <a:lnTo>
                    <a:pt x="1149138" y="1147110"/>
                  </a:lnTo>
                  <a:lnTo>
                    <a:pt x="1179468" y="1182770"/>
                  </a:lnTo>
                  <a:lnTo>
                    <a:pt x="1209926" y="1218277"/>
                  </a:lnTo>
                  <a:lnTo>
                    <a:pt x="1240533" y="1253603"/>
                  </a:lnTo>
                  <a:lnTo>
                    <a:pt x="1271311" y="1288724"/>
                  </a:lnTo>
                  <a:lnTo>
                    <a:pt x="1302282" y="1323614"/>
                  </a:lnTo>
                  <a:lnTo>
                    <a:pt x="1333466" y="1358248"/>
                  </a:lnTo>
                  <a:lnTo>
                    <a:pt x="1364885" y="1392599"/>
                  </a:lnTo>
                  <a:lnTo>
                    <a:pt x="1396561" y="1426642"/>
                  </a:lnTo>
                  <a:lnTo>
                    <a:pt x="1428514" y="1460351"/>
                  </a:lnTo>
                  <a:lnTo>
                    <a:pt x="1460766" y="1493701"/>
                  </a:lnTo>
                  <a:lnTo>
                    <a:pt x="1493338" y="1526666"/>
                  </a:lnTo>
                  <a:lnTo>
                    <a:pt x="1526252" y="1559221"/>
                  </a:lnTo>
                  <a:lnTo>
                    <a:pt x="1559530" y="1591339"/>
                  </a:lnTo>
                  <a:lnTo>
                    <a:pt x="1593192" y="1622995"/>
                  </a:lnTo>
                  <a:lnTo>
                    <a:pt x="1627259" y="1654163"/>
                  </a:lnTo>
                  <a:lnTo>
                    <a:pt x="1661754" y="1684818"/>
                  </a:lnTo>
                  <a:lnTo>
                    <a:pt x="1696697" y="1714934"/>
                  </a:lnTo>
                  <a:lnTo>
                    <a:pt x="1732111" y="1744486"/>
                  </a:lnTo>
                  <a:lnTo>
                    <a:pt x="1768015" y="1773447"/>
                  </a:lnTo>
                  <a:lnTo>
                    <a:pt x="1804432" y="1801792"/>
                  </a:lnTo>
                  <a:lnTo>
                    <a:pt x="1841383" y="1829495"/>
                  </a:lnTo>
                  <a:lnTo>
                    <a:pt x="1878890" y="1856531"/>
                  </a:lnTo>
                  <a:lnTo>
                    <a:pt x="1916973" y="1882874"/>
                  </a:lnTo>
                  <a:lnTo>
                    <a:pt x="1955654" y="1908498"/>
                  </a:lnTo>
                  <a:lnTo>
                    <a:pt x="1994954" y="1933378"/>
                  </a:lnTo>
                  <a:lnTo>
                    <a:pt x="2034896" y="1957488"/>
                  </a:lnTo>
                  <a:lnTo>
                    <a:pt x="2075499" y="1980802"/>
                  </a:lnTo>
                  <a:lnTo>
                    <a:pt x="2116786" y="2003295"/>
                  </a:lnTo>
                  <a:lnTo>
                    <a:pt x="2158778" y="2024941"/>
                  </a:lnTo>
                  <a:lnTo>
                    <a:pt x="2201496" y="2045714"/>
                  </a:lnTo>
                  <a:lnTo>
                    <a:pt x="2244961" y="2065589"/>
                  </a:lnTo>
                  <a:lnTo>
                    <a:pt x="2289196" y="2084540"/>
                  </a:lnTo>
                  <a:lnTo>
                    <a:pt x="2334221" y="2102541"/>
                  </a:lnTo>
                  <a:lnTo>
                    <a:pt x="2380057" y="2119567"/>
                  </a:lnTo>
                  <a:lnTo>
                    <a:pt x="2426726" y="2135592"/>
                  </a:lnTo>
                  <a:lnTo>
                    <a:pt x="2474250" y="2150590"/>
                  </a:lnTo>
                  <a:lnTo>
                    <a:pt x="2522650" y="2164536"/>
                  </a:lnTo>
                  <a:lnTo>
                    <a:pt x="2571946" y="2177403"/>
                  </a:lnTo>
                  <a:lnTo>
                    <a:pt x="2622161" y="2189168"/>
                  </a:lnTo>
                  <a:lnTo>
                    <a:pt x="2673316" y="2199802"/>
                  </a:lnTo>
                  <a:lnTo>
                    <a:pt x="2725432" y="2209282"/>
                  </a:lnTo>
                  <a:lnTo>
                    <a:pt x="2751607" y="2213373"/>
                  </a:lnTo>
                </a:path>
              </a:pathLst>
            </a:custGeom>
            <a:ln w="24999">
              <a:solidFill>
                <a:srgbClr val="33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48652"/>
              <a:ext cx="18288000" cy="50165"/>
            </a:xfrm>
            <a:custGeom>
              <a:avLst/>
              <a:gdLst/>
              <a:ahLst/>
              <a:cxnLst/>
              <a:rect l="l" t="t" r="r" b="b"/>
              <a:pathLst>
                <a:path w="18288000" h="50165">
                  <a:moveTo>
                    <a:pt x="18287988" y="0"/>
                  </a:moveTo>
                  <a:lnTo>
                    <a:pt x="0" y="0"/>
                  </a:lnTo>
                  <a:lnTo>
                    <a:pt x="0" y="49999"/>
                  </a:lnTo>
                  <a:lnTo>
                    <a:pt x="18287988" y="4999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3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Summary</a:t>
            </a:r>
            <a:r>
              <a:rPr spc="150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dirty="0"/>
              <a:t>RBF</a:t>
            </a:r>
            <a:r>
              <a:rPr spc="150" dirty="0"/>
              <a:t> </a:t>
            </a:r>
            <a:r>
              <a:rPr dirty="0"/>
              <a:t>Regression</a:t>
            </a:r>
            <a:r>
              <a:rPr spc="15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7" name="object 7"/>
          <p:cNvSpPr/>
          <p:nvPr/>
        </p:nvSpPr>
        <p:spPr>
          <a:xfrm>
            <a:off x="681189" y="373256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97"/>
                </a:lnTo>
                <a:lnTo>
                  <a:pt x="60896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21"/>
                </a:lnTo>
                <a:lnTo>
                  <a:pt x="19392" y="100215"/>
                </a:lnTo>
                <a:lnTo>
                  <a:pt x="53390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21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1189" y="505654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97"/>
                </a:lnTo>
                <a:lnTo>
                  <a:pt x="60896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390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1189" y="637099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390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390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6429" y="3525272"/>
            <a:ext cx="8583295" cy="39795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065" marR="5080" algn="ctr">
              <a:lnSpc>
                <a:spcPct val="103099"/>
              </a:lnSpc>
              <a:spcBef>
                <a:spcPts val="2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Small</a:t>
            </a:r>
            <a:r>
              <a:rPr sz="2850" spc="10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185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40" dirty="0">
                <a:solidFill>
                  <a:srgbClr val="332C2C"/>
                </a:solidFill>
                <a:latin typeface="Cambria"/>
                <a:cs typeface="Cambria"/>
              </a:rPr>
              <a:t>(1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or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65" dirty="0">
                <a:solidFill>
                  <a:srgbClr val="332C2C"/>
                </a:solidFill>
                <a:latin typeface="Cambria"/>
                <a:cs typeface="Cambria"/>
              </a:rPr>
              <a:t>5):</a:t>
            </a:r>
            <a:r>
              <a:rPr sz="2850" spc="10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lacks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flexibility,</a:t>
            </a:r>
            <a:r>
              <a:rPr sz="2850" spc="10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cannot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capture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true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function</a:t>
            </a:r>
            <a:r>
              <a:rPr sz="2850" spc="1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well;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850" spc="10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MSE</a:t>
            </a:r>
            <a:r>
              <a:rPr sz="2850" spc="1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remains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relatively</a:t>
            </a:r>
            <a:endParaRPr sz="2850">
              <a:latin typeface="Cambria"/>
              <a:cs typeface="Cambria"/>
            </a:endParaRPr>
          </a:p>
          <a:p>
            <a:pPr marR="157480" algn="ctr">
              <a:lnSpc>
                <a:spcPct val="100000"/>
              </a:lnSpc>
              <a:spcBef>
                <a:spcPts val="30"/>
              </a:spcBef>
            </a:pPr>
            <a:r>
              <a:rPr sz="2850" spc="45" dirty="0">
                <a:solidFill>
                  <a:srgbClr val="332C2C"/>
                </a:solidFill>
                <a:latin typeface="Cambria"/>
                <a:cs typeface="Cambria"/>
              </a:rPr>
              <a:t>high.</a:t>
            </a:r>
            <a:endParaRPr sz="2850">
              <a:latin typeface="Cambria"/>
              <a:cs typeface="Cambria"/>
            </a:endParaRPr>
          </a:p>
          <a:p>
            <a:pPr marL="167005" marR="159385" algn="ctr">
              <a:lnSpc>
                <a:spcPct val="100899"/>
              </a:lnSpc>
              <a:tabLst>
                <a:tab pos="2915285" algn="l"/>
              </a:tabLst>
            </a:pPr>
            <a:r>
              <a:rPr sz="2850" spc="185" dirty="0">
                <a:solidFill>
                  <a:srgbClr val="332C2C"/>
                </a:solidFill>
                <a:latin typeface="Cambria"/>
                <a:cs typeface="Cambria"/>
              </a:rPr>
              <a:t>M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80" dirty="0">
                <a:solidFill>
                  <a:srgbClr val="332C2C"/>
                </a:solidFill>
                <a:latin typeface="Cambria"/>
                <a:cs typeface="Cambria"/>
              </a:rPr>
              <a:t>10,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5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45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45" dirty="0">
                <a:solidFill>
                  <a:srgbClr val="332C2C"/>
                </a:solidFill>
                <a:latin typeface="Cambria"/>
                <a:cs typeface="Cambria"/>
              </a:rPr>
              <a:t>0.05: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	Best</a:t>
            </a:r>
            <a:r>
              <a:rPr sz="2850" spc="1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performance.</a:t>
            </a:r>
            <a:r>
              <a:rPr sz="2850" spc="1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Enough</a:t>
            </a:r>
            <a:r>
              <a:rPr sz="2850" spc="1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RBFs</a:t>
            </a:r>
            <a:r>
              <a:rPr sz="2850" spc="1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to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finer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variations,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with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moderate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smoothing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to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avoid</a:t>
            </a:r>
            <a:r>
              <a:rPr sz="2850" spc="-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overfitting.</a:t>
            </a:r>
            <a:endParaRPr sz="2850">
              <a:latin typeface="Cambria"/>
              <a:cs typeface="Cambria"/>
            </a:endParaRPr>
          </a:p>
          <a:p>
            <a:pPr marL="255270" marR="247650" algn="ctr">
              <a:lnSpc>
                <a:spcPct val="100899"/>
              </a:lnSpc>
              <a:tabLst>
                <a:tab pos="1694180" algn="l"/>
              </a:tabLst>
            </a:pP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High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45" dirty="0">
                <a:solidFill>
                  <a:srgbClr val="332C2C"/>
                </a:solidFill>
                <a:latin typeface="Cambria"/>
                <a:cs typeface="Cambria"/>
              </a:rPr>
              <a:t>M: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	Too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flexible.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With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5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3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0.01,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extreme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overshoots</a:t>
            </a:r>
            <a:r>
              <a:rPr sz="285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occur.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With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5" dirty="0">
                <a:solidFill>
                  <a:srgbClr val="332C2C"/>
                </a:solidFill>
                <a:latin typeface="Arial"/>
                <a:cs typeface="Arial"/>
              </a:rPr>
              <a:t>λ</a:t>
            </a:r>
            <a:r>
              <a:rPr sz="2850" spc="-100" dirty="0">
                <a:solidFill>
                  <a:srgbClr val="332C2C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=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30" dirty="0">
                <a:solidFill>
                  <a:srgbClr val="332C2C"/>
                </a:solidFill>
                <a:latin typeface="Cambria"/>
                <a:cs typeface="Cambria"/>
              </a:rPr>
              <a:t>0.1,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still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overfits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less</a:t>
            </a:r>
            <a:endParaRPr sz="2850">
              <a:latin typeface="Cambria"/>
              <a:cs typeface="Cambria"/>
            </a:endParaRPr>
          </a:p>
          <a:p>
            <a:pPr marR="157480" algn="ctr">
              <a:lnSpc>
                <a:spcPct val="100000"/>
              </a:lnSpc>
              <a:spcBef>
                <a:spcPts val="30"/>
              </a:spcBef>
            </a:pP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severely.</a:t>
            </a:r>
            <a:endParaRPr sz="285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3635" y="3570389"/>
            <a:ext cx="6619874" cy="3514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4758" y="1926269"/>
            <a:ext cx="8963660" cy="3959860"/>
          </a:xfrm>
          <a:prstGeom prst="rect">
            <a:avLst/>
          </a:prstGeom>
        </p:spPr>
        <p:txBody>
          <a:bodyPr vert="horz" wrap="square" lIns="0" tIns="360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35"/>
              </a:spcBef>
            </a:pPr>
            <a:r>
              <a:rPr sz="13950" spc="320" dirty="0"/>
              <a:t>03</a:t>
            </a:r>
            <a:endParaRPr sz="13950"/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8250" spc="145" dirty="0"/>
              <a:t>Logistic</a:t>
            </a:r>
            <a:r>
              <a:rPr sz="8250" spc="80" dirty="0"/>
              <a:t> </a:t>
            </a:r>
            <a:r>
              <a:rPr sz="8250" spc="40" dirty="0"/>
              <a:t>Regression</a:t>
            </a:r>
            <a:endParaRPr sz="8250"/>
          </a:p>
        </p:txBody>
      </p:sp>
      <p:sp>
        <p:nvSpPr>
          <p:cNvPr id="3" name="object 3"/>
          <p:cNvSpPr/>
          <p:nvPr/>
        </p:nvSpPr>
        <p:spPr>
          <a:xfrm>
            <a:off x="0" y="9753003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50012"/>
                </a:lnTo>
                <a:lnTo>
                  <a:pt x="18287988" y="50012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</a:t>
            </a:r>
            <a:r>
              <a:rPr spc="60" dirty="0"/>
              <a:t> </a:t>
            </a:r>
            <a:r>
              <a:rPr spc="240" dirty="0"/>
              <a:t>&amp;</a:t>
            </a:r>
            <a:r>
              <a:rPr spc="65" dirty="0"/>
              <a:t> </a:t>
            </a:r>
            <a:r>
              <a:rPr spc="70" dirty="0"/>
              <a:t>Data</a:t>
            </a:r>
            <a:r>
              <a:rPr spc="60" dirty="0"/>
              <a:t> </a:t>
            </a:r>
            <a:r>
              <a:rPr spc="-10" dirty="0"/>
              <a:t>Preparation</a:t>
            </a:r>
          </a:p>
        </p:txBody>
      </p:sp>
      <p:sp>
        <p:nvSpPr>
          <p:cNvPr id="5" name="object 5"/>
          <p:cNvSpPr/>
          <p:nvPr/>
        </p:nvSpPr>
        <p:spPr>
          <a:xfrm>
            <a:off x="828967" y="464284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97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21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21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8967" y="507146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97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8967" y="550961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8967" y="594776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8967" y="75122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909"/>
                </a:lnTo>
                <a:lnTo>
                  <a:pt x="19392" y="100203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8967" y="794087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392" y="100203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896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8967" y="837902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390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84" y="19392"/>
                </a:lnTo>
                <a:lnTo>
                  <a:pt x="0" y="53390"/>
                </a:lnTo>
                <a:lnTo>
                  <a:pt x="0" y="60896"/>
                </a:lnTo>
                <a:lnTo>
                  <a:pt x="19392" y="100203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896"/>
                </a:lnTo>
                <a:lnTo>
                  <a:pt x="114300" y="57150"/>
                </a:lnTo>
                <a:lnTo>
                  <a:pt x="114300" y="5339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9450" y="4051464"/>
            <a:ext cx="9618345" cy="463396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ts val="2740"/>
              </a:lnSpc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Dataset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&amp;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Preprocessing:</a:t>
            </a:r>
            <a:endParaRPr sz="2850" dirty="0">
              <a:latin typeface="Cambria"/>
              <a:cs typeface="Cambria"/>
            </a:endParaRPr>
          </a:p>
          <a:p>
            <a:pPr marL="446405" marR="772160">
              <a:lnSpc>
                <a:spcPts val="3379"/>
              </a:lnSpc>
              <a:spcBef>
                <a:spcPts val="17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Dataset:</a:t>
            </a:r>
            <a:r>
              <a:rPr sz="2850" spc="1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Customer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churn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dataset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from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Assignment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#1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Preprocessing:</a:t>
            </a:r>
            <a:r>
              <a:rPr sz="2850" spc="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Done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Assignment</a:t>
            </a:r>
            <a:r>
              <a:rPr sz="285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#1</a:t>
            </a:r>
            <a:endParaRPr sz="2850" dirty="0">
              <a:latin typeface="Cambria"/>
              <a:cs typeface="Cambria"/>
            </a:endParaRPr>
          </a:p>
          <a:p>
            <a:pPr marL="446405" marR="5080">
              <a:lnSpc>
                <a:spcPts val="3450"/>
              </a:lnSpc>
              <a:spcBef>
                <a:spcPts val="1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Features: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All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columns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except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45" dirty="0">
                <a:solidFill>
                  <a:srgbClr val="332C2C"/>
                </a:solidFill>
                <a:latin typeface="Cambria"/>
                <a:cs typeface="Cambria"/>
              </a:rPr>
              <a:t>ChurnStatus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CustomerID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Target:</a:t>
            </a:r>
            <a:r>
              <a:rPr sz="2850" spc="10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ChurnStatus</a:t>
            </a:r>
            <a:endParaRPr sz="28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85"/>
              </a:spcBef>
            </a:pPr>
            <a:endParaRPr sz="28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Split:</a:t>
            </a:r>
            <a:endParaRPr sz="2850" dirty="0">
              <a:latin typeface="Cambria"/>
              <a:cs typeface="Cambria"/>
            </a:endParaRPr>
          </a:p>
          <a:p>
            <a:pPr marL="446405" marR="5252085">
              <a:lnSpc>
                <a:spcPct val="99800"/>
              </a:lnSpc>
              <a:spcBef>
                <a:spcPts val="4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Train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-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2500</a:t>
            </a:r>
            <a:r>
              <a:rPr sz="2850" spc="9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Samples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Validation</a:t>
            </a:r>
            <a:r>
              <a:rPr sz="2850" spc="-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500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Samples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500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Samples</a:t>
            </a:r>
            <a:endParaRPr sz="2850" dirty="0">
              <a:latin typeface="Cambria"/>
              <a:cs typeface="Cambr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62F890-7794-F50A-2B2D-53F7EC7757EA}"/>
              </a:ext>
            </a:extLst>
          </p:cNvPr>
          <p:cNvSpPr txBox="1"/>
          <p:nvPr/>
        </p:nvSpPr>
        <p:spPr>
          <a:xfrm>
            <a:off x="0" y="2601276"/>
            <a:ext cx="11436350" cy="733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9615" marR="1361440" indent="17780">
              <a:lnSpc>
                <a:spcPts val="5780"/>
              </a:lnSpc>
              <a:spcBef>
                <a:spcPts val="335"/>
              </a:spcBef>
            </a:pPr>
            <a:r>
              <a:rPr lang="en-US" sz="2850" dirty="0">
                <a:solidFill>
                  <a:srgbClr val="332C2C"/>
                </a:solidFill>
                <a:latin typeface="Cambria"/>
                <a:cs typeface="Cambria"/>
              </a:rPr>
              <a:t>Objective:</a:t>
            </a:r>
            <a:r>
              <a:rPr lang="en-US" sz="2850" spc="19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lang="en-US" sz="2850" dirty="0">
                <a:solidFill>
                  <a:srgbClr val="332C2C"/>
                </a:solidFill>
                <a:latin typeface="Cambria"/>
                <a:cs typeface="Cambria"/>
              </a:rPr>
              <a:t>Predict</a:t>
            </a:r>
            <a:r>
              <a:rPr lang="en-US" sz="285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lang="en-US" sz="2850" spc="-10" dirty="0">
                <a:solidFill>
                  <a:srgbClr val="332C2C"/>
                </a:solidFill>
                <a:latin typeface="Cambria"/>
                <a:cs typeface="Cambria"/>
              </a:rPr>
              <a:t>Customer </a:t>
            </a:r>
            <a:r>
              <a:rPr lang="en-US" sz="2850" spc="65" dirty="0">
                <a:solidFill>
                  <a:srgbClr val="332C2C"/>
                </a:solidFill>
                <a:latin typeface="Cambria"/>
                <a:cs typeface="Cambria"/>
              </a:rPr>
              <a:t>Churn</a:t>
            </a:r>
            <a:r>
              <a:rPr lang="en-US" sz="2850" spc="-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lang="en-US" sz="2850" spc="-80" dirty="0">
                <a:solidFill>
                  <a:srgbClr val="332C2C"/>
                </a:solidFill>
                <a:latin typeface="Cambria"/>
                <a:cs typeface="Cambria"/>
              </a:rPr>
              <a:t>(binary </a:t>
            </a:r>
            <a:r>
              <a:rPr lang="en-US" sz="2850" spc="-10" dirty="0">
                <a:solidFill>
                  <a:srgbClr val="332C2C"/>
                </a:solidFill>
                <a:latin typeface="Cambria"/>
                <a:cs typeface="Cambria"/>
              </a:rPr>
              <a:t>classification)</a:t>
            </a:r>
            <a:endParaRPr lang="en-US" sz="28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50012"/>
                </a:lnTo>
                <a:lnTo>
                  <a:pt x="18287988" y="50012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Linear</a:t>
            </a:r>
            <a:r>
              <a:rPr spc="195" dirty="0"/>
              <a:t> </a:t>
            </a:r>
            <a:r>
              <a:rPr spc="100" dirty="0"/>
              <a:t>Logistic</a:t>
            </a:r>
            <a:r>
              <a:rPr spc="200" dirty="0"/>
              <a:t> </a:t>
            </a:r>
            <a:r>
              <a:rPr dirty="0"/>
              <a:t>Regression</a:t>
            </a:r>
            <a:r>
              <a:rPr spc="200" dirty="0"/>
              <a:t> </a:t>
            </a:r>
            <a:r>
              <a:rPr spc="114" dirty="0"/>
              <a:t>–</a:t>
            </a:r>
            <a:r>
              <a:rPr spc="20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5" name="object 5"/>
          <p:cNvSpPr/>
          <p:nvPr/>
        </p:nvSpPr>
        <p:spPr>
          <a:xfrm>
            <a:off x="1604962" y="572250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71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4962" y="616065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71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4962" y="70274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71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4962" y="746558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3403"/>
                </a:moveTo>
                <a:lnTo>
                  <a:pt x="94907" y="14084"/>
                </a:lnTo>
                <a:lnTo>
                  <a:pt x="60896" y="0"/>
                </a:lnTo>
                <a:lnTo>
                  <a:pt x="53403" y="0"/>
                </a:lnTo>
                <a:lnTo>
                  <a:pt x="14071" y="19392"/>
                </a:lnTo>
                <a:lnTo>
                  <a:pt x="0" y="53403"/>
                </a:lnTo>
                <a:lnTo>
                  <a:pt x="0" y="60909"/>
                </a:lnTo>
                <a:lnTo>
                  <a:pt x="19392" y="100215"/>
                </a:lnTo>
                <a:lnTo>
                  <a:pt x="53403" y="114300"/>
                </a:lnTo>
                <a:lnTo>
                  <a:pt x="60896" y="114300"/>
                </a:lnTo>
                <a:lnTo>
                  <a:pt x="100215" y="94907"/>
                </a:lnTo>
                <a:lnTo>
                  <a:pt x="114300" y="60909"/>
                </a:lnTo>
                <a:lnTo>
                  <a:pt x="114300" y="57150"/>
                </a:lnTo>
                <a:lnTo>
                  <a:pt x="114300" y="53403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15680" y="3190456"/>
            <a:ext cx="14690725" cy="496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7365" algn="ctr">
              <a:lnSpc>
                <a:spcPct val="100000"/>
              </a:lnSpc>
              <a:spcBef>
                <a:spcPts val="10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Train</a:t>
            </a:r>
            <a:r>
              <a:rPr sz="2850" spc="-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30" dirty="0">
                <a:solidFill>
                  <a:srgbClr val="332C2C"/>
                </a:solidFill>
                <a:latin typeface="Lucida Sans Unicode"/>
                <a:cs typeface="Lucida Sans Unicode"/>
              </a:rPr>
              <a:t>→</a:t>
            </a:r>
            <a:r>
              <a:rPr sz="2850" spc="-260" dirty="0">
                <a:solidFill>
                  <a:srgbClr val="332C2C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Accuracy: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0.976,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Precision: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0.796,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Recall: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0.643</a:t>
            </a:r>
            <a:endParaRPr sz="2850">
              <a:latin typeface="Cambria"/>
              <a:cs typeface="Cambria"/>
            </a:endParaRPr>
          </a:p>
          <a:p>
            <a:pPr marR="506730" algn="ctr">
              <a:lnSpc>
                <a:spcPts val="3400"/>
              </a:lnSpc>
              <a:spcBef>
                <a:spcPts val="3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Validation</a:t>
            </a:r>
            <a:r>
              <a:rPr sz="2850" spc="-9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30" dirty="0">
                <a:solidFill>
                  <a:srgbClr val="332C2C"/>
                </a:solidFill>
                <a:latin typeface="Lucida Sans Unicode"/>
                <a:cs typeface="Lucida Sans Unicode"/>
              </a:rPr>
              <a:t>→</a:t>
            </a:r>
            <a:r>
              <a:rPr sz="2850" spc="-260" dirty="0">
                <a:solidFill>
                  <a:srgbClr val="332C2C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Accuracy: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0.978,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Precision: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0.750,</a:t>
            </a:r>
            <a:r>
              <a:rPr sz="285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Recall:</a:t>
            </a:r>
            <a:r>
              <a:rPr sz="285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0.632</a:t>
            </a:r>
            <a:endParaRPr sz="2850">
              <a:latin typeface="Cambria"/>
              <a:cs typeface="Cambria"/>
            </a:endParaRPr>
          </a:p>
          <a:p>
            <a:pPr marR="425450" algn="ctr">
              <a:lnSpc>
                <a:spcPts val="3395"/>
              </a:lnSpc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30" dirty="0">
                <a:solidFill>
                  <a:srgbClr val="332C2C"/>
                </a:solidFill>
                <a:latin typeface="Lucida Sans Unicode"/>
                <a:cs typeface="Lucida Sans Unicode"/>
              </a:rPr>
              <a:t>→</a:t>
            </a:r>
            <a:r>
              <a:rPr sz="2850" spc="-245" dirty="0">
                <a:solidFill>
                  <a:srgbClr val="332C2C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Accuracy: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0.980,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Precision: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0.882,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Recall: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0.652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2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achieves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high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overall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accuracy,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which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might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seem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good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at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first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glance.</a:t>
            </a:r>
            <a:endParaRPr sz="2850">
              <a:latin typeface="Cambria"/>
              <a:cs typeface="Cambria"/>
            </a:endParaRPr>
          </a:p>
          <a:p>
            <a:pPr marL="149860" marR="142875" algn="ctr">
              <a:lnSpc>
                <a:spcPts val="3379"/>
              </a:lnSpc>
              <a:spcBef>
                <a:spcPts val="175"/>
              </a:spcBef>
            </a:pPr>
            <a:r>
              <a:rPr sz="2850" spc="-45" dirty="0">
                <a:solidFill>
                  <a:srgbClr val="332C2C"/>
                </a:solidFill>
                <a:latin typeface="Cambria"/>
                <a:cs typeface="Cambria"/>
              </a:rPr>
              <a:t>However,</a:t>
            </a:r>
            <a:r>
              <a:rPr sz="285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Recall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relatively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45" dirty="0">
                <a:solidFill>
                  <a:srgbClr val="332C2C"/>
                </a:solidFill>
                <a:latin typeface="Cambria"/>
                <a:cs typeface="Cambria"/>
              </a:rPr>
              <a:t>low,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meaning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fails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correctly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identify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45" dirty="0">
                <a:solidFill>
                  <a:srgbClr val="332C2C"/>
                </a:solidFill>
                <a:latin typeface="Cambria"/>
                <a:cs typeface="Cambria"/>
              </a:rPr>
              <a:t>significant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portion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5" dirty="0">
                <a:solidFill>
                  <a:srgbClr val="332C2C"/>
                </a:solidFill>
                <a:latin typeface="Cambria"/>
                <a:cs typeface="Cambria"/>
              </a:rPr>
              <a:t>of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customers</a:t>
            </a:r>
            <a:r>
              <a:rPr sz="285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who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actually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churn.</a:t>
            </a:r>
            <a:endParaRPr sz="2850">
              <a:latin typeface="Cambria"/>
              <a:cs typeface="Cambria"/>
            </a:endParaRPr>
          </a:p>
          <a:p>
            <a:pPr algn="ctr">
              <a:lnSpc>
                <a:spcPts val="3340"/>
              </a:lnSpc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Precision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moderate,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showing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that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when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predicts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churn,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often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correct,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not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perfect.</a:t>
            </a:r>
            <a:endParaRPr sz="2850">
              <a:latin typeface="Cambria"/>
              <a:cs typeface="Cambria"/>
            </a:endParaRPr>
          </a:p>
          <a:p>
            <a:pPr marL="381635" marR="375285" algn="ctr">
              <a:lnSpc>
                <a:spcPts val="3379"/>
              </a:lnSpc>
              <a:spcBef>
                <a:spcPts val="16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Overall,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linear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simple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for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this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problem</a:t>
            </a:r>
            <a:r>
              <a:rPr sz="285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850" spc="-18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it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underfits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data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cannot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capture</a:t>
            </a:r>
            <a:r>
              <a:rPr sz="2850" spc="114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non-linear</a:t>
            </a:r>
            <a:r>
              <a:rPr sz="2850" spc="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patterns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850" spc="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customer</a:t>
            </a:r>
            <a:r>
              <a:rPr sz="2850" spc="1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behavior.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50012"/>
                </a:lnTo>
                <a:lnTo>
                  <a:pt x="18287988" y="50012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3100" y="540435"/>
            <a:ext cx="13094335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Non-linear</a:t>
            </a:r>
            <a:r>
              <a:rPr spc="185" dirty="0"/>
              <a:t> </a:t>
            </a:r>
            <a:r>
              <a:rPr spc="100" dirty="0"/>
              <a:t>Logistic</a:t>
            </a:r>
            <a:r>
              <a:rPr spc="190" dirty="0"/>
              <a:t> </a:t>
            </a:r>
            <a:r>
              <a:rPr dirty="0"/>
              <a:t>Regression</a:t>
            </a:r>
            <a:r>
              <a:rPr spc="185" dirty="0"/>
              <a:t> </a:t>
            </a:r>
            <a:r>
              <a:rPr spc="175" dirty="0"/>
              <a:t>-</a:t>
            </a:r>
            <a:r>
              <a:rPr spc="190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9366" y="2431618"/>
            <a:ext cx="7248512" cy="45148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57250" y="2039492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58"/>
                </a:moveTo>
                <a:lnTo>
                  <a:pt x="86995" y="12915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80"/>
                </a:lnTo>
                <a:lnTo>
                  <a:pt x="0" y="48958"/>
                </a:lnTo>
                <a:lnTo>
                  <a:pt x="0" y="55841"/>
                </a:lnTo>
                <a:lnTo>
                  <a:pt x="17767" y="91871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59" y="87007"/>
                </a:lnTo>
                <a:lnTo>
                  <a:pt x="104775" y="55841"/>
                </a:lnTo>
                <a:lnTo>
                  <a:pt x="104775" y="52387"/>
                </a:lnTo>
                <a:lnTo>
                  <a:pt x="104775" y="48958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250" y="428844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45"/>
                </a:moveTo>
                <a:lnTo>
                  <a:pt x="86995" y="12915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80"/>
                </a:lnTo>
                <a:lnTo>
                  <a:pt x="0" y="48945"/>
                </a:lnTo>
                <a:lnTo>
                  <a:pt x="0" y="55829"/>
                </a:lnTo>
                <a:lnTo>
                  <a:pt x="17767" y="91859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59" y="86995"/>
                </a:lnTo>
                <a:lnTo>
                  <a:pt x="104775" y="55829"/>
                </a:lnTo>
                <a:lnTo>
                  <a:pt x="104775" y="52387"/>
                </a:lnTo>
                <a:lnTo>
                  <a:pt x="104775" y="48945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100" y="1836293"/>
            <a:ext cx="8996045" cy="392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645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Degree</a:t>
            </a:r>
            <a:r>
              <a:rPr sz="270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2: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ts val="3235"/>
              </a:lnSpc>
              <a:spcBef>
                <a:spcPts val="60"/>
              </a:spcBef>
            </a:pPr>
            <a:r>
              <a:rPr sz="2700" spc="65" dirty="0">
                <a:solidFill>
                  <a:srgbClr val="332C2C"/>
                </a:solidFill>
                <a:latin typeface="Cambria"/>
                <a:cs typeface="Cambria"/>
              </a:rPr>
              <a:t>Slight</a:t>
            </a:r>
            <a:r>
              <a:rPr sz="270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improvement</a:t>
            </a:r>
            <a:r>
              <a:rPr sz="270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over</a:t>
            </a:r>
            <a:r>
              <a:rPr sz="2700" spc="-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linear</a:t>
            </a:r>
            <a:r>
              <a:rPr sz="270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model.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ts val="3225"/>
              </a:lnSpc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Accuracy</a:t>
            </a:r>
            <a:r>
              <a:rPr sz="270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increases</a:t>
            </a:r>
            <a:r>
              <a:rPr sz="270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slightly,</a:t>
            </a:r>
            <a:r>
              <a:rPr sz="270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Recall</a:t>
            </a:r>
            <a:r>
              <a:rPr sz="270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improves</a:t>
            </a:r>
            <a:r>
              <a:rPr sz="270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modestly.</a:t>
            </a:r>
            <a:endParaRPr sz="2700">
              <a:latin typeface="Cambria"/>
              <a:cs typeface="Cambria"/>
            </a:endParaRPr>
          </a:p>
          <a:p>
            <a:pPr marL="12700" marR="5715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Still</a:t>
            </a:r>
            <a:r>
              <a:rPr sz="2700" spc="1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relatively</a:t>
            </a:r>
            <a:r>
              <a:rPr sz="270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simple</a:t>
            </a:r>
            <a:r>
              <a:rPr sz="270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underfitting</a:t>
            </a:r>
            <a:r>
              <a:rPr sz="270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risk</a:t>
            </a:r>
            <a:r>
              <a:rPr sz="2700" spc="1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700" spc="1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low,</a:t>
            </a:r>
            <a:r>
              <a:rPr sz="2700" spc="1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generalizes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reasonably</a:t>
            </a:r>
            <a:r>
              <a:rPr sz="2700" spc="-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well.</a:t>
            </a:r>
            <a:endParaRPr sz="2700">
              <a:latin typeface="Cambria"/>
              <a:cs typeface="Cambria"/>
            </a:endParaRPr>
          </a:p>
          <a:p>
            <a:pPr marL="461645">
              <a:lnSpc>
                <a:spcPct val="100000"/>
              </a:lnSpc>
              <a:spcBef>
                <a:spcPts val="138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Degree</a:t>
            </a:r>
            <a:r>
              <a:rPr sz="270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5:</a:t>
            </a:r>
            <a:endParaRPr sz="2700">
              <a:latin typeface="Cambria"/>
              <a:cs typeface="Cambria"/>
            </a:endParaRPr>
          </a:p>
          <a:p>
            <a:pPr marL="12700" marR="5080">
              <a:lnSpc>
                <a:spcPts val="3229"/>
              </a:lnSpc>
              <a:spcBef>
                <a:spcPts val="160"/>
              </a:spcBef>
              <a:tabLst>
                <a:tab pos="965835" algn="l"/>
                <a:tab pos="2414905" algn="l"/>
                <a:tab pos="3105150" algn="l"/>
                <a:tab pos="4622165" algn="l"/>
                <a:tab pos="5391785" algn="l"/>
                <a:tab pos="6203950" algn="l"/>
                <a:tab pos="6640830" algn="l"/>
                <a:tab pos="7691755" algn="l"/>
              </a:tabLst>
            </a:pPr>
            <a:r>
              <a:rPr sz="2700" spc="50" dirty="0">
                <a:solidFill>
                  <a:srgbClr val="332C2C"/>
                </a:solidFill>
                <a:latin typeface="Cambria"/>
                <a:cs typeface="Cambria"/>
              </a:rPr>
              <a:t>Significant</a:t>
            </a:r>
            <a:r>
              <a:rPr sz="270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improvement</a:t>
            </a:r>
            <a:r>
              <a:rPr sz="270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70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Recall on the</a:t>
            </a:r>
            <a:r>
              <a:rPr sz="2700" spc="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validation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set.</a:t>
            </a:r>
            <a:r>
              <a:rPr sz="2700" spc="6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Train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accuracy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precision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very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high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spc="-5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captures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complex</a:t>
            </a:r>
            <a:r>
              <a:rPr sz="2700" spc="-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patterns.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5733072"/>
            <a:ext cx="8999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0380" algn="l"/>
                <a:tab pos="2568575" algn="l"/>
                <a:tab pos="3388360" algn="l"/>
                <a:tab pos="4766945" algn="l"/>
                <a:tab pos="5784850" algn="l"/>
                <a:tab pos="6764020" algn="l"/>
              </a:tabLst>
            </a:pP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Validation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and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metrics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show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good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generalization,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7250" y="6944753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104775" y="48971"/>
                </a:moveTo>
                <a:lnTo>
                  <a:pt x="86995" y="12915"/>
                </a:lnTo>
                <a:lnTo>
                  <a:pt x="55816" y="0"/>
                </a:lnTo>
                <a:lnTo>
                  <a:pt x="48945" y="0"/>
                </a:lnTo>
                <a:lnTo>
                  <a:pt x="12903" y="17780"/>
                </a:lnTo>
                <a:lnTo>
                  <a:pt x="0" y="48971"/>
                </a:lnTo>
                <a:lnTo>
                  <a:pt x="0" y="55841"/>
                </a:lnTo>
                <a:lnTo>
                  <a:pt x="17767" y="91884"/>
                </a:lnTo>
                <a:lnTo>
                  <a:pt x="48945" y="104775"/>
                </a:lnTo>
                <a:lnTo>
                  <a:pt x="55816" y="104775"/>
                </a:lnTo>
                <a:lnTo>
                  <a:pt x="91859" y="87007"/>
                </a:lnTo>
                <a:lnTo>
                  <a:pt x="104775" y="55841"/>
                </a:lnTo>
                <a:lnTo>
                  <a:pt x="104775" y="52387"/>
                </a:lnTo>
                <a:lnTo>
                  <a:pt x="104775" y="48971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3100" y="5955220"/>
            <a:ext cx="5424805" cy="122364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though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precision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70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lower</a:t>
            </a:r>
            <a:r>
              <a:rPr sz="270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than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train.</a:t>
            </a:r>
            <a:endParaRPr sz="2700">
              <a:latin typeface="Cambria"/>
              <a:cs typeface="Cambria"/>
            </a:endParaRPr>
          </a:p>
          <a:p>
            <a:pPr marL="461645">
              <a:lnSpc>
                <a:spcPct val="100000"/>
              </a:lnSpc>
              <a:spcBef>
                <a:spcPts val="147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Degree</a:t>
            </a:r>
            <a:r>
              <a:rPr sz="2700" spc="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9: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7160654"/>
            <a:ext cx="8994775" cy="207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29"/>
              </a:lnSpc>
              <a:spcBef>
                <a:spcPts val="100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Train</a:t>
            </a:r>
            <a:r>
              <a:rPr sz="2700" spc="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metrics</a:t>
            </a:r>
            <a:r>
              <a:rPr sz="2700" spc="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are</a:t>
            </a:r>
            <a:r>
              <a:rPr sz="270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perfect</a:t>
            </a:r>
            <a:r>
              <a:rPr sz="270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0" dirty="0">
                <a:solidFill>
                  <a:srgbClr val="332C2C"/>
                </a:solidFill>
                <a:latin typeface="Cambria"/>
                <a:cs typeface="Cambria"/>
              </a:rPr>
              <a:t>(1.0)</a:t>
            </a:r>
            <a:r>
              <a:rPr sz="270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overfitting.</a:t>
            </a:r>
            <a:endParaRPr sz="2700">
              <a:latin typeface="Cambria"/>
              <a:cs typeface="Cambria"/>
            </a:endParaRPr>
          </a:p>
          <a:p>
            <a:pPr marL="12700" marR="811530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Validation</a:t>
            </a:r>
            <a:r>
              <a:rPr sz="2700" spc="5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Recall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still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high,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but</a:t>
            </a:r>
            <a:r>
              <a:rPr sz="270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precision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drops</a:t>
            </a:r>
            <a:r>
              <a:rPr sz="2700" spc="6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slightly.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70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set</a:t>
            </a:r>
            <a:r>
              <a:rPr sz="2700" spc="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Recall</a:t>
            </a:r>
            <a:r>
              <a:rPr sz="2700" spc="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decreases.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ts val="3105"/>
              </a:lnSpc>
              <a:tabLst>
                <a:tab pos="819785" algn="l"/>
                <a:tab pos="2311400" algn="l"/>
                <a:tab pos="2863850" algn="l"/>
                <a:tab pos="3611879" algn="l"/>
                <a:tab pos="4657725" algn="l"/>
                <a:tab pos="5208270" algn="l"/>
                <a:tab pos="6678295" algn="l"/>
                <a:tab pos="7658734" algn="l"/>
              </a:tabLst>
            </a:pP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complex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spc="-5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fits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noise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25" dirty="0">
                <a:solidFill>
                  <a:srgbClr val="332C2C"/>
                </a:solidFill>
                <a:latin typeface="Cambria"/>
                <a:cs typeface="Cambria"/>
              </a:rPr>
              <a:t>in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training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data,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reducing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ts val="3235"/>
              </a:lnSpc>
            </a:pP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generalization.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14354" y="7152767"/>
            <a:ext cx="6664325" cy="20847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5"/>
              </a:spcBef>
              <a:tabLst>
                <a:tab pos="1771650" algn="l"/>
                <a:tab pos="3592829" algn="l"/>
                <a:tab pos="4780280" algn="l"/>
                <a:tab pos="5253355" algn="l"/>
              </a:tabLst>
            </a:pP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Increasing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polynomial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degree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spc="-5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	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increases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model</a:t>
            </a:r>
            <a:r>
              <a:rPr sz="2700" spc="-12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flexibility.</a:t>
            </a:r>
            <a:endParaRPr sz="2700">
              <a:latin typeface="Cambria"/>
              <a:cs typeface="Cambria"/>
            </a:endParaRPr>
          </a:p>
          <a:p>
            <a:pPr marL="12700" marR="3827145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700" spc="-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low</a:t>
            </a:r>
            <a:r>
              <a:rPr sz="2700" spc="-13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spc="-1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underfit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Too</a:t>
            </a:r>
            <a:r>
              <a:rPr sz="2700" spc="-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high</a:t>
            </a:r>
            <a:r>
              <a:rPr sz="270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75" dirty="0">
                <a:solidFill>
                  <a:srgbClr val="332C2C"/>
                </a:solidFill>
                <a:latin typeface="Cambria"/>
                <a:cs typeface="Cambria"/>
              </a:rPr>
              <a:t>-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&gt;</a:t>
            </a:r>
            <a:r>
              <a:rPr sz="2700" spc="-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overfit.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ts val="3115"/>
              </a:lnSpc>
            </a:pP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Degree</a:t>
            </a:r>
            <a:r>
              <a:rPr sz="270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5</a:t>
            </a:r>
            <a:r>
              <a:rPr sz="270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32C2C"/>
                </a:solidFill>
                <a:latin typeface="Cambria"/>
                <a:cs typeface="Cambria"/>
              </a:rPr>
              <a:t>provides</a:t>
            </a:r>
            <a:r>
              <a:rPr sz="270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70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2C2C"/>
                </a:solidFill>
                <a:latin typeface="Cambria"/>
                <a:cs typeface="Cambria"/>
              </a:rPr>
              <a:t>best</a:t>
            </a:r>
            <a:r>
              <a:rPr sz="270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332C2C"/>
                </a:solidFill>
                <a:latin typeface="Cambria"/>
                <a:cs typeface="Cambria"/>
              </a:rPr>
              <a:t>balance.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spc="30" dirty="0"/>
              <a:t> </a:t>
            </a:r>
            <a:r>
              <a:rPr spc="55" dirty="0"/>
              <a:t>Selection</a:t>
            </a:r>
            <a:r>
              <a:rPr spc="30" dirty="0"/>
              <a:t> </a:t>
            </a:r>
            <a:r>
              <a:rPr dirty="0"/>
              <a:t>Based</a:t>
            </a:r>
            <a:r>
              <a:rPr spc="35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Validation</a:t>
            </a:r>
            <a:r>
              <a:rPr spc="30" dirty="0"/>
              <a:t> </a:t>
            </a:r>
            <a:r>
              <a:rPr spc="100" dirty="0"/>
              <a:t>Set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marR="1968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Priority:</a:t>
            </a:r>
            <a:r>
              <a:rPr spc="65" dirty="0"/>
              <a:t> </a:t>
            </a:r>
            <a:r>
              <a:rPr dirty="0"/>
              <a:t>Minimize</a:t>
            </a:r>
            <a:r>
              <a:rPr spc="65" dirty="0"/>
              <a:t> </a:t>
            </a:r>
            <a:r>
              <a:rPr dirty="0"/>
              <a:t>False</a:t>
            </a:r>
            <a:r>
              <a:rPr spc="65" dirty="0"/>
              <a:t> </a:t>
            </a:r>
            <a:r>
              <a:rPr dirty="0"/>
              <a:t>Negatives</a:t>
            </a:r>
            <a:r>
              <a:rPr spc="65" dirty="0"/>
              <a:t> </a:t>
            </a:r>
            <a:r>
              <a:rPr spc="-35" dirty="0"/>
              <a:t>-</a:t>
            </a:r>
            <a:r>
              <a:rPr dirty="0"/>
              <a:t>&gt;</a:t>
            </a:r>
            <a:r>
              <a:rPr spc="65" dirty="0"/>
              <a:t> </a:t>
            </a:r>
            <a:r>
              <a:rPr dirty="0"/>
              <a:t>correctly</a:t>
            </a:r>
            <a:r>
              <a:rPr spc="65" dirty="0"/>
              <a:t> </a:t>
            </a:r>
            <a:r>
              <a:rPr dirty="0"/>
              <a:t>identifying</a:t>
            </a:r>
            <a:r>
              <a:rPr spc="65" dirty="0"/>
              <a:t> </a:t>
            </a:r>
            <a:r>
              <a:rPr spc="-10" dirty="0"/>
              <a:t>customers </a:t>
            </a:r>
            <a:r>
              <a:rPr dirty="0"/>
              <a:t>who</a:t>
            </a:r>
            <a:r>
              <a:rPr spc="-10" dirty="0"/>
              <a:t> </a:t>
            </a:r>
            <a:r>
              <a:rPr dirty="0"/>
              <a:t>will</a:t>
            </a:r>
            <a:r>
              <a:rPr spc="-5" dirty="0"/>
              <a:t> </a:t>
            </a:r>
            <a:r>
              <a:rPr dirty="0"/>
              <a:t>churn</a:t>
            </a:r>
            <a:r>
              <a:rPr spc="-1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10" dirty="0"/>
              <a:t>critical.</a:t>
            </a:r>
          </a:p>
          <a:p>
            <a:pPr marL="686435" marR="5080" algn="ctr">
              <a:lnSpc>
                <a:spcPct val="100000"/>
              </a:lnSpc>
            </a:pPr>
            <a:r>
              <a:rPr dirty="0"/>
              <a:t>The</a:t>
            </a:r>
            <a:r>
              <a:rPr spc="65" dirty="0"/>
              <a:t> </a:t>
            </a:r>
            <a:r>
              <a:rPr dirty="0"/>
              <a:t>Degree-5</a:t>
            </a:r>
            <a:r>
              <a:rPr spc="70" dirty="0"/>
              <a:t> </a:t>
            </a:r>
            <a:r>
              <a:rPr spc="-10" dirty="0"/>
              <a:t>polynomial</a:t>
            </a:r>
            <a:r>
              <a:rPr spc="65" dirty="0"/>
              <a:t> </a:t>
            </a:r>
            <a:r>
              <a:rPr dirty="0"/>
              <a:t>logistic</a:t>
            </a:r>
            <a:r>
              <a:rPr spc="70" dirty="0"/>
              <a:t> </a:t>
            </a:r>
            <a:r>
              <a:rPr dirty="0"/>
              <a:t>regression</a:t>
            </a:r>
            <a:r>
              <a:rPr spc="65" dirty="0"/>
              <a:t> </a:t>
            </a:r>
            <a:r>
              <a:rPr dirty="0"/>
              <a:t>achieves</a:t>
            </a:r>
            <a:r>
              <a:rPr spc="70" dirty="0"/>
              <a:t> </a:t>
            </a:r>
            <a:r>
              <a:rPr spc="-125" dirty="0"/>
              <a:t>100%</a:t>
            </a:r>
            <a:r>
              <a:rPr spc="65" dirty="0"/>
              <a:t> </a:t>
            </a:r>
            <a:r>
              <a:rPr dirty="0"/>
              <a:t>Recall</a:t>
            </a:r>
            <a:r>
              <a:rPr spc="70" dirty="0"/>
              <a:t> </a:t>
            </a:r>
            <a:r>
              <a:rPr spc="-25" dirty="0"/>
              <a:t>on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validation</a:t>
            </a:r>
            <a:r>
              <a:rPr spc="60" dirty="0"/>
              <a:t> </a:t>
            </a:r>
            <a:r>
              <a:rPr dirty="0"/>
              <a:t>set,</a:t>
            </a:r>
            <a:r>
              <a:rPr spc="60" dirty="0"/>
              <a:t> </a:t>
            </a:r>
            <a:r>
              <a:rPr dirty="0"/>
              <a:t>meaning</a:t>
            </a:r>
            <a:r>
              <a:rPr spc="60" dirty="0"/>
              <a:t> </a:t>
            </a:r>
            <a:r>
              <a:rPr spc="55" dirty="0"/>
              <a:t>it</a:t>
            </a:r>
            <a:r>
              <a:rPr spc="60" dirty="0"/>
              <a:t> </a:t>
            </a:r>
            <a:r>
              <a:rPr dirty="0"/>
              <a:t>correctly</a:t>
            </a:r>
            <a:r>
              <a:rPr spc="60" dirty="0"/>
              <a:t> </a:t>
            </a:r>
            <a:r>
              <a:rPr dirty="0"/>
              <a:t>identifies</a:t>
            </a:r>
            <a:r>
              <a:rPr spc="60" dirty="0"/>
              <a:t> </a:t>
            </a:r>
            <a:r>
              <a:rPr dirty="0"/>
              <a:t>all</a:t>
            </a:r>
            <a:r>
              <a:rPr spc="60" dirty="0"/>
              <a:t> </a:t>
            </a:r>
            <a:r>
              <a:rPr spc="-10" dirty="0"/>
              <a:t>churners.</a:t>
            </a:r>
          </a:p>
          <a:p>
            <a:pPr>
              <a:lnSpc>
                <a:spcPct val="100000"/>
              </a:lnSpc>
              <a:spcBef>
                <a:spcPts val="2705"/>
              </a:spcBef>
            </a:pPr>
            <a:endParaRPr spc="-10" dirty="0"/>
          </a:p>
          <a:p>
            <a:pPr marL="1195705" marR="1334135" indent="80010" algn="ctr">
              <a:lnSpc>
                <a:spcPct val="100099"/>
              </a:lnSpc>
            </a:pPr>
            <a:r>
              <a:rPr sz="2850" dirty="0"/>
              <a:t>Linear</a:t>
            </a:r>
            <a:r>
              <a:rPr sz="2850" spc="90" dirty="0"/>
              <a:t> </a:t>
            </a:r>
            <a:r>
              <a:rPr sz="2850" spc="50" dirty="0"/>
              <a:t>Logistic</a:t>
            </a:r>
            <a:r>
              <a:rPr sz="2850" spc="95" dirty="0"/>
              <a:t> </a:t>
            </a:r>
            <a:r>
              <a:rPr sz="2850" dirty="0"/>
              <a:t>Regression</a:t>
            </a:r>
            <a:r>
              <a:rPr sz="2850" spc="100" dirty="0"/>
              <a:t> </a:t>
            </a:r>
            <a:r>
              <a:rPr sz="2850" spc="-295" dirty="0"/>
              <a:t>F1</a:t>
            </a:r>
            <a:r>
              <a:rPr sz="2850" spc="95" dirty="0"/>
              <a:t> </a:t>
            </a:r>
            <a:r>
              <a:rPr sz="2850" dirty="0"/>
              <a:t>Score:</a:t>
            </a:r>
            <a:r>
              <a:rPr sz="2850" spc="100" dirty="0"/>
              <a:t> </a:t>
            </a:r>
            <a:r>
              <a:rPr sz="2850" spc="-90" dirty="0"/>
              <a:t>0.6857142857142857 </a:t>
            </a:r>
            <a:r>
              <a:rPr sz="2850" dirty="0"/>
              <a:t>Degree</a:t>
            </a:r>
            <a:r>
              <a:rPr sz="2850" spc="60" dirty="0"/>
              <a:t> </a:t>
            </a:r>
            <a:r>
              <a:rPr sz="2850" dirty="0"/>
              <a:t>2</a:t>
            </a:r>
            <a:r>
              <a:rPr sz="2850" spc="65" dirty="0"/>
              <a:t> </a:t>
            </a:r>
            <a:r>
              <a:rPr sz="2850" spc="50" dirty="0"/>
              <a:t>Logistic</a:t>
            </a:r>
            <a:r>
              <a:rPr sz="2850" spc="70" dirty="0"/>
              <a:t> </a:t>
            </a:r>
            <a:r>
              <a:rPr sz="2850" dirty="0"/>
              <a:t>Regression</a:t>
            </a:r>
            <a:r>
              <a:rPr sz="2850" spc="65" dirty="0"/>
              <a:t> </a:t>
            </a:r>
            <a:r>
              <a:rPr sz="2850" spc="-295" dirty="0"/>
              <a:t>F1</a:t>
            </a:r>
            <a:r>
              <a:rPr sz="2850" spc="70" dirty="0"/>
              <a:t> </a:t>
            </a:r>
            <a:r>
              <a:rPr sz="2850" dirty="0"/>
              <a:t>Score:</a:t>
            </a:r>
            <a:r>
              <a:rPr sz="2850" spc="70" dirty="0"/>
              <a:t> </a:t>
            </a:r>
            <a:r>
              <a:rPr sz="2850" spc="-30" dirty="0"/>
              <a:t>0.7027027027027027 </a:t>
            </a:r>
            <a:r>
              <a:rPr sz="2850" dirty="0"/>
              <a:t>Degree</a:t>
            </a:r>
            <a:r>
              <a:rPr sz="2850" spc="45" dirty="0"/>
              <a:t> </a:t>
            </a:r>
            <a:r>
              <a:rPr sz="2850" dirty="0"/>
              <a:t>5</a:t>
            </a:r>
            <a:r>
              <a:rPr sz="2850" spc="60" dirty="0"/>
              <a:t> </a:t>
            </a:r>
            <a:r>
              <a:rPr sz="2850" spc="50" dirty="0"/>
              <a:t>Logistic</a:t>
            </a:r>
            <a:r>
              <a:rPr sz="2850" spc="55" dirty="0"/>
              <a:t> </a:t>
            </a:r>
            <a:r>
              <a:rPr sz="2850" dirty="0"/>
              <a:t>Regression</a:t>
            </a:r>
            <a:r>
              <a:rPr sz="2850" spc="60" dirty="0"/>
              <a:t> </a:t>
            </a:r>
            <a:r>
              <a:rPr sz="2850" spc="-295" dirty="0"/>
              <a:t>F1</a:t>
            </a:r>
            <a:r>
              <a:rPr sz="2850" spc="55" dirty="0"/>
              <a:t> </a:t>
            </a:r>
            <a:r>
              <a:rPr sz="2850" dirty="0"/>
              <a:t>Score:</a:t>
            </a:r>
            <a:r>
              <a:rPr sz="2850" spc="60" dirty="0"/>
              <a:t> </a:t>
            </a:r>
            <a:r>
              <a:rPr sz="2850" spc="-20" dirty="0"/>
              <a:t>0.8837209302325582 </a:t>
            </a:r>
            <a:r>
              <a:rPr sz="2850" dirty="0"/>
              <a:t>Degree</a:t>
            </a:r>
            <a:r>
              <a:rPr sz="2850" spc="80" dirty="0"/>
              <a:t> </a:t>
            </a:r>
            <a:r>
              <a:rPr sz="2850" dirty="0"/>
              <a:t>9</a:t>
            </a:r>
            <a:r>
              <a:rPr sz="2850" spc="80" dirty="0"/>
              <a:t> </a:t>
            </a:r>
            <a:r>
              <a:rPr sz="2850" spc="50" dirty="0"/>
              <a:t>Logistic</a:t>
            </a:r>
            <a:r>
              <a:rPr sz="2850" spc="85" dirty="0"/>
              <a:t> </a:t>
            </a:r>
            <a:r>
              <a:rPr sz="2850" dirty="0"/>
              <a:t>Regression</a:t>
            </a:r>
            <a:r>
              <a:rPr sz="2850" spc="80" dirty="0"/>
              <a:t> </a:t>
            </a:r>
            <a:r>
              <a:rPr sz="2850" spc="-295" dirty="0"/>
              <a:t>F1</a:t>
            </a:r>
            <a:r>
              <a:rPr sz="2850" spc="80" dirty="0"/>
              <a:t> </a:t>
            </a:r>
            <a:r>
              <a:rPr sz="2850" dirty="0"/>
              <a:t>Score:</a:t>
            </a:r>
            <a:r>
              <a:rPr sz="2850" spc="80" dirty="0"/>
              <a:t> </a:t>
            </a:r>
            <a:r>
              <a:rPr sz="2850" spc="-114" dirty="0"/>
              <a:t>0.8571428571428571</a:t>
            </a:r>
            <a:endParaRPr sz="2850"/>
          </a:p>
          <a:p>
            <a:pPr>
              <a:lnSpc>
                <a:spcPct val="100000"/>
              </a:lnSpc>
              <a:spcBef>
                <a:spcPts val="3000"/>
              </a:spcBef>
            </a:pPr>
            <a:endParaRPr sz="2850"/>
          </a:p>
          <a:p>
            <a:pPr marL="12700" marR="71120" algn="ctr">
              <a:lnSpc>
                <a:spcPct val="100899"/>
              </a:lnSpc>
            </a:pPr>
            <a:r>
              <a:rPr sz="2850" dirty="0"/>
              <a:t>The</a:t>
            </a:r>
            <a:r>
              <a:rPr sz="2850" spc="15" dirty="0"/>
              <a:t> </a:t>
            </a:r>
            <a:r>
              <a:rPr sz="2850" dirty="0"/>
              <a:t>Degree-5</a:t>
            </a:r>
            <a:r>
              <a:rPr sz="2850" spc="20" dirty="0"/>
              <a:t> </a:t>
            </a:r>
            <a:r>
              <a:rPr sz="2850" dirty="0"/>
              <a:t>model</a:t>
            </a:r>
            <a:r>
              <a:rPr sz="2850" spc="15" dirty="0"/>
              <a:t> </a:t>
            </a:r>
            <a:r>
              <a:rPr sz="2850" dirty="0"/>
              <a:t>is</a:t>
            </a:r>
            <a:r>
              <a:rPr sz="2850" spc="15" dirty="0"/>
              <a:t> </a:t>
            </a:r>
            <a:r>
              <a:rPr sz="2850" dirty="0"/>
              <a:t>the</a:t>
            </a:r>
            <a:r>
              <a:rPr sz="2850" spc="20" dirty="0"/>
              <a:t> </a:t>
            </a:r>
            <a:r>
              <a:rPr sz="2850" dirty="0"/>
              <a:t>best</a:t>
            </a:r>
            <a:r>
              <a:rPr sz="2850" spc="15" dirty="0"/>
              <a:t> </a:t>
            </a:r>
            <a:r>
              <a:rPr sz="2850" dirty="0"/>
              <a:t>choice</a:t>
            </a:r>
            <a:r>
              <a:rPr sz="2850" spc="15" dirty="0"/>
              <a:t> </a:t>
            </a:r>
            <a:r>
              <a:rPr sz="2850" dirty="0"/>
              <a:t>whether</a:t>
            </a:r>
            <a:r>
              <a:rPr sz="2850" spc="20" dirty="0"/>
              <a:t> </a:t>
            </a:r>
            <a:r>
              <a:rPr sz="2850" dirty="0"/>
              <a:t>the</a:t>
            </a:r>
            <a:r>
              <a:rPr sz="2850" spc="15" dirty="0"/>
              <a:t> </a:t>
            </a:r>
            <a:r>
              <a:rPr sz="2850" dirty="0"/>
              <a:t>priority</a:t>
            </a:r>
            <a:r>
              <a:rPr sz="2850" spc="15" dirty="0"/>
              <a:t> </a:t>
            </a:r>
            <a:r>
              <a:rPr sz="2850" dirty="0"/>
              <a:t>is</a:t>
            </a:r>
            <a:r>
              <a:rPr sz="2850" spc="20" dirty="0"/>
              <a:t> </a:t>
            </a:r>
            <a:r>
              <a:rPr sz="2850" dirty="0"/>
              <a:t>solely</a:t>
            </a:r>
            <a:r>
              <a:rPr sz="2850" spc="15" dirty="0"/>
              <a:t> </a:t>
            </a:r>
            <a:r>
              <a:rPr sz="2850" dirty="0"/>
              <a:t>Recall</a:t>
            </a:r>
            <a:r>
              <a:rPr sz="2850" spc="15" dirty="0"/>
              <a:t> </a:t>
            </a:r>
            <a:r>
              <a:rPr sz="2850" spc="-25" dirty="0"/>
              <a:t>or </a:t>
            </a:r>
            <a:r>
              <a:rPr sz="2850" dirty="0"/>
              <a:t>a</a:t>
            </a:r>
            <a:r>
              <a:rPr sz="2850" spc="5" dirty="0"/>
              <a:t> </a:t>
            </a:r>
            <a:r>
              <a:rPr sz="2850" dirty="0"/>
              <a:t>balanced</a:t>
            </a:r>
            <a:r>
              <a:rPr sz="2850" spc="5" dirty="0"/>
              <a:t> </a:t>
            </a:r>
            <a:r>
              <a:rPr sz="2850" dirty="0"/>
              <a:t>performance</a:t>
            </a:r>
            <a:r>
              <a:rPr sz="2850" spc="10" dirty="0"/>
              <a:t> </a:t>
            </a:r>
            <a:r>
              <a:rPr sz="2850" spc="-25" dirty="0"/>
              <a:t>between</a:t>
            </a:r>
            <a:r>
              <a:rPr sz="2850" spc="5" dirty="0"/>
              <a:t> </a:t>
            </a:r>
            <a:r>
              <a:rPr sz="2850" dirty="0"/>
              <a:t>Precision</a:t>
            </a:r>
            <a:r>
              <a:rPr sz="2850" spc="5" dirty="0"/>
              <a:t> </a:t>
            </a:r>
            <a:r>
              <a:rPr sz="2850" dirty="0"/>
              <a:t>and</a:t>
            </a:r>
            <a:r>
              <a:rPr sz="2850" spc="5" dirty="0"/>
              <a:t> </a:t>
            </a:r>
            <a:r>
              <a:rPr sz="2850" spc="-10" dirty="0"/>
              <a:t>Recall.</a:t>
            </a:r>
            <a:endParaRPr sz="28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652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753536"/>
            <a:ext cx="18288000" cy="50165"/>
          </a:xfrm>
          <a:custGeom>
            <a:avLst/>
            <a:gdLst/>
            <a:ahLst/>
            <a:cxnLst/>
            <a:rect l="l" t="t" r="r" b="b"/>
            <a:pathLst>
              <a:path w="18288000" h="50165">
                <a:moveTo>
                  <a:pt x="18287988" y="0"/>
                </a:moveTo>
                <a:lnTo>
                  <a:pt x="0" y="0"/>
                </a:lnTo>
                <a:lnTo>
                  <a:pt x="0" y="49999"/>
                </a:lnTo>
                <a:lnTo>
                  <a:pt x="18287988" y="49999"/>
                </a:lnTo>
                <a:lnTo>
                  <a:pt x="18287988" y="0"/>
                </a:lnTo>
                <a:close/>
              </a:path>
            </a:pathLst>
          </a:custGeom>
          <a:solidFill>
            <a:srgbClr val="33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80" rIns="0" bIns="0" rtlCol="0">
            <a:spAutoFit/>
          </a:bodyPr>
          <a:lstStyle/>
          <a:p>
            <a:pPr marL="12700" marR="5080">
              <a:lnSpc>
                <a:spcPts val="7050"/>
              </a:lnSpc>
              <a:spcBef>
                <a:spcPts val="235"/>
              </a:spcBef>
            </a:pPr>
            <a:r>
              <a:rPr spc="170" dirty="0"/>
              <a:t>ROC</a:t>
            </a:r>
            <a:r>
              <a:rPr spc="-105" dirty="0"/>
              <a:t> </a:t>
            </a:r>
            <a:r>
              <a:rPr dirty="0"/>
              <a:t>Curve:</a:t>
            </a:r>
            <a:r>
              <a:rPr spc="-50" dirty="0"/>
              <a:t> </a:t>
            </a:r>
            <a:r>
              <a:rPr spc="60" dirty="0"/>
              <a:t>Degree-</a:t>
            </a:r>
            <a:r>
              <a:rPr spc="-330" dirty="0"/>
              <a:t>5</a:t>
            </a:r>
            <a:r>
              <a:rPr spc="5" dirty="0"/>
              <a:t> </a:t>
            </a:r>
            <a:r>
              <a:rPr dirty="0"/>
              <a:t>Polynomial</a:t>
            </a:r>
            <a:r>
              <a:rPr spc="-45" dirty="0"/>
              <a:t> </a:t>
            </a:r>
            <a:r>
              <a:rPr spc="90" dirty="0"/>
              <a:t>Logistic </a:t>
            </a:r>
            <a:r>
              <a:rPr spc="-10" dirty="0"/>
              <a:t>Regression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2887" y="2706154"/>
            <a:ext cx="7467599" cy="59117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3825" y="3214116"/>
            <a:ext cx="8446135" cy="897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240029">
              <a:lnSpc>
                <a:spcPct val="100899"/>
              </a:lnSpc>
              <a:spcBef>
                <a:spcPts val="7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 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ROC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curve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plots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True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Positive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Rate</a:t>
            </a:r>
            <a:r>
              <a:rPr sz="2850" spc="1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(Recall) </a:t>
            </a:r>
            <a:r>
              <a:rPr sz="2850" spc="50" dirty="0">
                <a:solidFill>
                  <a:srgbClr val="332C2C"/>
                </a:solidFill>
                <a:latin typeface="Cambria"/>
                <a:cs typeface="Cambria"/>
              </a:rPr>
              <a:t>against</a:t>
            </a:r>
            <a:r>
              <a:rPr sz="2850" spc="2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False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Positive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Rate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at</a:t>
            </a:r>
            <a:r>
              <a:rPr sz="2850" spc="3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different</a:t>
            </a:r>
            <a:r>
              <a:rPr sz="2850" spc="4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thresholds.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382" y="5184749"/>
            <a:ext cx="9121140" cy="26549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36905" marR="626745" indent="-5715" algn="ctr">
              <a:lnSpc>
                <a:spcPct val="100899"/>
              </a:lnSpc>
              <a:spcBef>
                <a:spcPts val="70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AUC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value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is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high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55" dirty="0">
                <a:solidFill>
                  <a:srgbClr val="332C2C"/>
                </a:solidFill>
                <a:latin typeface="Cambria"/>
                <a:cs typeface="Cambria"/>
              </a:rPr>
              <a:t>(=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0" dirty="0">
                <a:solidFill>
                  <a:srgbClr val="332C2C"/>
                </a:solidFill>
                <a:latin typeface="Cambria"/>
                <a:cs typeface="Cambria"/>
              </a:rPr>
              <a:t>0.941),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confirming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model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effectively</a:t>
            </a:r>
            <a:r>
              <a:rPr sz="2850" spc="6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separates</a:t>
            </a:r>
            <a:r>
              <a:rPr sz="2850" spc="7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churners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from</a:t>
            </a:r>
            <a:r>
              <a:rPr sz="2850" spc="7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non-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churners.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850">
              <a:latin typeface="Cambria"/>
              <a:cs typeface="Cambria"/>
            </a:endParaRPr>
          </a:p>
          <a:p>
            <a:pPr marL="12065" marR="5080" algn="ctr">
              <a:lnSpc>
                <a:spcPct val="100899"/>
              </a:lnSpc>
              <a:spcBef>
                <a:spcPts val="5"/>
              </a:spcBef>
            </a:pP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Confirms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that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Degree-5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polynomial</a:t>
            </a:r>
            <a:r>
              <a:rPr sz="2850" spc="15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logistic</a:t>
            </a:r>
            <a:r>
              <a:rPr sz="2850" spc="14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332C2C"/>
                </a:solidFill>
                <a:latin typeface="Cambria"/>
                <a:cs typeface="Cambria"/>
              </a:rPr>
              <a:t>regression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generalizes</a:t>
            </a:r>
            <a:r>
              <a:rPr sz="2850" spc="8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well</a:t>
            </a:r>
            <a:r>
              <a:rPr sz="2850" spc="85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to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the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332C2C"/>
                </a:solidFill>
                <a:latin typeface="Cambria"/>
                <a:cs typeface="Cambria"/>
              </a:rPr>
              <a:t>test</a:t>
            </a:r>
            <a:r>
              <a:rPr sz="2850" spc="90" dirty="0">
                <a:solidFill>
                  <a:srgbClr val="332C2C"/>
                </a:solidFill>
                <a:latin typeface="Cambria"/>
                <a:cs typeface="Cambria"/>
              </a:rPr>
              <a:t> </a:t>
            </a:r>
            <a:r>
              <a:rPr sz="2850" spc="-20" dirty="0">
                <a:solidFill>
                  <a:srgbClr val="332C2C"/>
                </a:solidFill>
                <a:latin typeface="Cambria"/>
                <a:cs typeface="Cambria"/>
              </a:rPr>
              <a:t>set.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1239</Words>
  <Application>Microsoft Office PowerPoint</Application>
  <PresentationFormat>Custom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Century Gothic</vt:lpstr>
      <vt:lpstr>Lucida Sans Unicode</vt:lpstr>
      <vt:lpstr>Office Theme</vt:lpstr>
      <vt:lpstr>PowerPoint Presentation</vt:lpstr>
      <vt:lpstr>01</vt:lpstr>
      <vt:lpstr>Dataset Visualization</vt:lpstr>
      <vt:lpstr>Ridge Regression: Effect of λ on Polynomial Fit</vt:lpstr>
      <vt:lpstr>Why Does λ = 0 Look Like the Best Model?</vt:lpstr>
      <vt:lpstr>Selecting the Best λ Using Test Error</vt:lpstr>
      <vt:lpstr>02 Non-linear Regression</vt:lpstr>
      <vt:lpstr>RBF Regression Results for Different Numbers of Basis Functions</vt:lpstr>
      <vt:lpstr>RBF Regression Results for Different Numbers of Basis Functions</vt:lpstr>
      <vt:lpstr>RBF Regression Results for Different Numbers of Basis Functions</vt:lpstr>
      <vt:lpstr>RBF Regression Results for Different Numbers of Basis Functions</vt:lpstr>
      <vt:lpstr>Summary of RBF Regression Results</vt:lpstr>
      <vt:lpstr>03 Logistic Regression</vt:lpstr>
      <vt:lpstr>Objective &amp; Data Preparation</vt:lpstr>
      <vt:lpstr>Linear Logistic Regression – Results</vt:lpstr>
      <vt:lpstr>Non-linear Logistic Regression - Results</vt:lpstr>
      <vt:lpstr>Model Selection Based on Validation Set</vt:lpstr>
      <vt:lpstr>ROC Curve: Degree-5 Polynomial Logistic Regression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Ahmad Hamdan</cp:lastModifiedBy>
  <cp:revision>1</cp:revision>
  <dcterms:created xsi:type="dcterms:W3CDTF">2025-11-25T21:19:24Z</dcterms:created>
  <dcterms:modified xsi:type="dcterms:W3CDTF">2025-11-25T21:22:47Z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2025-11-25T00:00:00Z</vt:filetime>
  </property>
  <property fmtid="{D5CDD505-2E9C-101B-9397-08002B2CF9AE}" pid="5" name="Producer">
    <vt:lpwstr>GPL Ghostscript 10.05.1</vt:lpwstr>
  </property>
</Properties>
</file>